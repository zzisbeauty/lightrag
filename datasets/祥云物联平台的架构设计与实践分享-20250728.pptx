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0" r:id="rId3"/>
    <p:sldId id="367" r:id="rId5"/>
    <p:sldId id="443" r:id="rId6"/>
    <p:sldId id="444" r:id="rId7"/>
    <p:sldId id="473" r:id="rId8"/>
    <p:sldId id="453" r:id="rId9"/>
    <p:sldId id="475" r:id="rId10"/>
    <p:sldId id="503" r:id="rId11"/>
    <p:sldId id="504" r:id="rId12"/>
    <p:sldId id="505" r:id="rId13"/>
    <p:sldId id="506" r:id="rId14"/>
    <p:sldId id="433" r:id="rId15"/>
    <p:sldId id="432" r:id="rId16"/>
    <p:sldId id="434" r:id="rId17"/>
    <p:sldId id="435" r:id="rId18"/>
    <p:sldId id="440" r:id="rId19"/>
    <p:sldId id="525" r:id="rId20"/>
    <p:sldId id="507" r:id="rId21"/>
    <p:sldId id="524" r:id="rId22"/>
    <p:sldId id="508" r:id="rId23"/>
    <p:sldId id="510" r:id="rId24"/>
    <p:sldId id="502" r:id="rId25"/>
    <p:sldId id="449" r:id="rId26"/>
    <p:sldId id="450" r:id="rId27"/>
    <p:sldId id="456" r:id="rId28"/>
    <p:sldId id="511" r:id="rId29"/>
    <p:sldId id="521" r:id="rId30"/>
    <p:sldId id="522" r:id="rId31"/>
    <p:sldId id="37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000D"/>
    <a:srgbClr val="2B4D89"/>
    <a:srgbClr val="F1F0EF"/>
    <a:srgbClr val="0A347F"/>
    <a:srgbClr val="0E51B6"/>
    <a:srgbClr val="C0D8FA"/>
    <a:srgbClr val="0C469D"/>
    <a:srgbClr val="0D4DAC"/>
    <a:srgbClr val="0C4498"/>
    <a:srgbClr val="FF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6" y="202"/>
      </p:cViewPr>
      <p:guideLst>
        <p:guide orient="horz" pos="2159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尊敬的各位领导、同事，大家下午好。我是物联网与</a:t>
            </a:r>
            <a:r>
              <a:rPr lang="en-US" altLang="zh-CN"/>
              <a:t>AI</a:t>
            </a:r>
            <a:r>
              <a:rPr lang="zh-CN" altLang="en-US"/>
              <a:t>技术中心的韩鹏飞，主要参与《祥云物联网平台》的研发</a:t>
            </a:r>
            <a:r>
              <a:rPr lang="zh-CN" altLang="en-US"/>
              <a:t>管理。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今天我为大家带来《祥云物联平台的架构设计与实践分享》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祥云借此机会开始实践接触</a:t>
            </a:r>
            <a:r>
              <a:rPr lang="en-US" altLang="zh-CN"/>
              <a:t>K8S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all in k8s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es</a:t>
            </a:r>
            <a:r>
              <a:rPr lang="zh-CN" altLang="en-US"/>
              <a:t>很耗资源。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基础监控：</a:t>
            </a:r>
            <a:r>
              <a:rPr lang="en-US" altLang="zh-CN"/>
              <a:t>ECS</a:t>
            </a:r>
            <a:r>
              <a:rPr lang="zh-CN" altLang="en-US"/>
              <a:t>监控、</a:t>
            </a:r>
            <a:r>
              <a:rPr lang="en-US" altLang="zh-CN"/>
              <a:t>K8S</a:t>
            </a:r>
            <a:r>
              <a:rPr lang="zh-CN" altLang="en-US"/>
              <a:t>监控、基础中间件监控、</a:t>
            </a:r>
            <a:r>
              <a:rPr lang="en-US" altLang="zh-CN"/>
              <a:t>JVM</a:t>
            </a:r>
            <a:r>
              <a:rPr lang="zh-CN" altLang="en-US"/>
              <a:t>监控。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skywalking</a:t>
            </a:r>
            <a:r>
              <a:rPr lang="zh-CN" altLang="en-US"/>
              <a:t>：耗内存、吃磁盘。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服务治理框架：</a:t>
            </a:r>
            <a:r>
              <a:rPr lang="en-US" altLang="zh-CN"/>
              <a:t>SDK</a:t>
            </a:r>
            <a:r>
              <a:rPr lang="zh-CN" altLang="en-US"/>
              <a:t>侵入式、服务网格。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配置外部化：对各服务的配置项进行外部化、集中化管理。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服务发现与负载均衡：服务注册中心、客户端负载均衡。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入口网关：认证鉴权、限流、路由、转发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运行监测：监控告警、日志中心、链路追踪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基础中间件：高性能分布式系统的基础保障。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微服务应用：配置中心、服务注册中心、【</a:t>
            </a:r>
            <a:r>
              <a:rPr lang="en-US" altLang="zh-CN"/>
              <a:t>spirng-boot</a:t>
            </a:r>
            <a:r>
              <a:rPr lang="zh-CN" altLang="en-US"/>
              <a:t>业务服务】、入口网关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运维监控：</a:t>
            </a:r>
            <a:r>
              <a:rPr lang="en-US" altLang="zh-CN"/>
              <a:t>spring-boot-admin</a:t>
            </a:r>
            <a:r>
              <a:rPr lang="zh-CN" altLang="en-US"/>
              <a:t>、服务治理管理、三大中心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基础中间件技术栈：高可用、高性能集群。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+ sharding-proxy + mysql</a:t>
            </a:r>
            <a:r>
              <a:rPr lang="zh-CN" altLang="en-US"/>
              <a:t>集群</a:t>
            </a:r>
            <a:endParaRPr lang="zh-CN" altLang="en-US"/>
          </a:p>
          <a:p>
            <a:r>
              <a:rPr lang="en-US" altLang="zh-CN"/>
              <a:t>    + influxdb</a:t>
            </a:r>
            <a:r>
              <a:rPr lang="zh-CN" altLang="en-US"/>
              <a:t>高版本不再开源，需更换技术栈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+ redis</a:t>
            </a:r>
            <a:r>
              <a:rPr lang="zh-CN" altLang="en-US"/>
              <a:t>哨兵集群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微服务技术栈</a:t>
            </a:r>
            <a:endParaRPr lang="zh-CN" altLang="en-US"/>
          </a:p>
          <a:p>
            <a:r>
              <a:rPr lang="en-US" altLang="zh-CN"/>
              <a:t>    + </a:t>
            </a:r>
            <a:r>
              <a:rPr lang="zh-CN" altLang="en-US"/>
              <a:t>历史遗留原因导致存在两个网关。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skywalking</a:t>
            </a:r>
            <a:r>
              <a:rPr lang="zh-CN" altLang="en-US"/>
              <a:t>使用踩坑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泛化业务管理：围绕设备管理、数据推送、数据历史、用户订阅的支撑域业务。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websocket</a:t>
            </a:r>
            <a:r>
              <a:rPr lang="zh-CN" altLang="en-US"/>
              <a:t>服务 </a:t>
            </a:r>
            <a:r>
              <a:rPr lang="en-US" altLang="zh-CN"/>
              <a:t>- </a:t>
            </a:r>
            <a:r>
              <a:rPr lang="zh-CN" altLang="en-US"/>
              <a:t>技术维度的服务拆分。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批量管理服务 </a:t>
            </a:r>
            <a:r>
              <a:rPr lang="en-US" altLang="zh-CN"/>
              <a:t>- </a:t>
            </a:r>
            <a:r>
              <a:rPr lang="zh-CN" altLang="en-US"/>
              <a:t>技术因素限制（集群适配）、不得不提供的服务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内部生态赋能：内部生态开放的</a:t>
            </a:r>
            <a:r>
              <a:rPr lang="en-US" altLang="zh-CN"/>
              <a:t>API</a:t>
            </a:r>
            <a:r>
              <a:rPr lang="zh-CN" altLang="en-US"/>
              <a:t>接口。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每服务单独仓库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技术先进性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为什么说服务网格是微服务</a:t>
            </a:r>
            <a:r>
              <a:rPr lang="en-US" altLang="zh-CN">
                <a:sym typeface="+mn-ea"/>
              </a:rPr>
              <a:t>2.0</a:t>
            </a:r>
            <a:r>
              <a:rPr lang="zh-CN" altLang="en-US">
                <a:sym typeface="+mn-ea"/>
              </a:rPr>
              <a:t>？</a:t>
            </a:r>
            <a:endParaRPr lang="zh-CN" altLang="en-US"/>
          </a:p>
          <a:p>
            <a:r>
              <a:rPr lang="zh-CN" altLang="en-US">
                <a:sym typeface="+mn-ea"/>
              </a:rPr>
              <a:t>    </a:t>
            </a: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核心进化：将服务治理能力从</a:t>
            </a:r>
            <a:r>
              <a:rPr lang="en-US" altLang="zh-CN">
                <a:sym typeface="+mn-ea"/>
              </a:rPr>
              <a:t>SDK</a:t>
            </a:r>
            <a:r>
              <a:rPr lang="zh-CN" altLang="en-US">
                <a:sym typeface="+mn-ea"/>
              </a:rPr>
              <a:t>包</a:t>
            </a:r>
            <a:r>
              <a:rPr lang="zh-CN" altLang="en-US">
                <a:sym typeface="+mn-ea"/>
              </a:rPr>
              <a:t>剥离成为基础设施层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业界称服务网格为</a:t>
            </a:r>
            <a:r>
              <a:rPr lang="en-US" altLang="zh-CN"/>
              <a:t>“</a:t>
            </a:r>
            <a:r>
              <a:rPr lang="zh-CN" altLang="en-US"/>
              <a:t>微服务</a:t>
            </a:r>
            <a:r>
              <a:rPr lang="en-US" altLang="zh-CN"/>
              <a:t>2.0”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为何能大行其道：</a:t>
            </a:r>
            <a:r>
              <a:rPr lang="en-US" altLang="zh-CN"/>
              <a:t>(</a:t>
            </a:r>
            <a:r>
              <a:rPr lang="zh-CN" altLang="en-US"/>
              <a:t>红字照读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没有绝对意义上的技术先进，适合的才是最好的！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810" y="-4445"/>
            <a:ext cx="12200255" cy="6866890"/>
          </a:xfrm>
          <a:prstGeom prst="rect">
            <a:avLst/>
          </a:prstGeom>
        </p:spPr>
      </p:pic>
      <p:pic>
        <p:nvPicPr>
          <p:cNvPr id="34" name="图片 33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54245" y="5936615"/>
            <a:ext cx="2690495" cy="518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3530" y="-356870"/>
            <a:ext cx="12799695" cy="7571740"/>
          </a:xfrm>
          <a:prstGeom prst="rect">
            <a:avLst/>
          </a:prstGeom>
        </p:spPr>
      </p:pic>
      <p:pic>
        <p:nvPicPr>
          <p:cNvPr id="20" name="图片 19" descr="1-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6430" y="197485"/>
            <a:ext cx="1146810" cy="114681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85165" y="545465"/>
            <a:ext cx="2791460" cy="283210"/>
            <a:chOff x="11834" y="1149"/>
            <a:chExt cx="4938" cy="606"/>
          </a:xfrm>
        </p:grpSpPr>
        <p:sp>
          <p:nvSpPr>
            <p:cNvPr id="3" name="矩形 2"/>
            <p:cNvSpPr/>
            <p:nvPr/>
          </p:nvSpPr>
          <p:spPr>
            <a:xfrm>
              <a:off x="11882" y="1204"/>
              <a:ext cx="4890" cy="5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1834" y="1163"/>
              <a:ext cx="4890" cy="551"/>
            </a:xfrm>
            <a:prstGeom prst="rect">
              <a:avLst/>
            </a:prstGeom>
            <a:solidFill>
              <a:srgbClr val="2649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1835" y="1149"/>
              <a:ext cx="4888" cy="59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/>
              <a:r>
                <a:rPr lang="zh-CN" altLang="en-US" sz="1200" b="1" kern="700" dirty="0">
                  <a:solidFill>
                    <a:schemeClr val="bg1"/>
                  </a:solidFill>
                  <a:cs typeface="+mn-ea"/>
                  <a:sym typeface="+mn-lt"/>
                </a:rPr>
                <a:t>祥云物联平台的架构设计与实践分享</a:t>
              </a:r>
              <a:endParaRPr lang="zh-CN" altLang="en-US" sz="1200" b="1" kern="7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65CE74E-AB26-4998-AD42-012C4C1AD07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13" name="图片 12" descr="未d标题-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" y="0"/>
            <a:ext cx="12192635" cy="685863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0"/>
            <a:ext cx="12192000" cy="6857365"/>
          </a:xfrm>
          <a:prstGeom prst="rect">
            <a:avLst/>
          </a:prstGeom>
          <a:gradFill>
            <a:gsLst>
              <a:gs pos="0">
                <a:srgbClr val="012D86">
                  <a:lumMod val="97000"/>
                  <a:lumOff val="3000"/>
                  <a:alpha val="19000"/>
                </a:srgbClr>
              </a:gs>
              <a:gs pos="100000">
                <a:srgbClr val="0E2557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906" y="138431"/>
            <a:ext cx="133985" cy="489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rgbClr val="0A347F"/>
              </a:solidFill>
            </a:endParaRPr>
          </a:p>
        </p:txBody>
      </p:sp>
      <p:pic>
        <p:nvPicPr>
          <p:cNvPr id="18" name="图片 17" descr="1-2"/>
          <p:cNvPicPr>
            <a:picLocks noChangeAspect="1"/>
          </p:cNvPicPr>
          <p:nvPr userDrawn="1"/>
        </p:nvPicPr>
        <p:blipFill>
          <a:blip r:embed="rId3">
            <a:grayscl/>
            <a:lum bright="100000" contrast="-6000"/>
          </a:blip>
          <a:stretch>
            <a:fillRect/>
          </a:stretch>
        </p:blipFill>
        <p:spPr>
          <a:xfrm>
            <a:off x="11222355" y="-77469"/>
            <a:ext cx="1004570" cy="100457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2319337" y="2214880"/>
            <a:ext cx="7553325" cy="193802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lang="zh-CN" altLang="zh-CN" sz="4000" b="1" kern="7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为万物赋灵</a:t>
            </a:r>
            <a:endParaRPr lang="zh-CN" altLang="zh-CN" sz="4000" b="1" kern="7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zh-CN" sz="4000" b="1" kern="7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让生产和生活不断涌现新价值</a:t>
            </a:r>
            <a:endParaRPr lang="zh-CN" altLang="zh-CN" sz="4000" b="1" kern="7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45" y="6367780"/>
            <a:ext cx="12194540" cy="489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4" Type="http://schemas.openxmlformats.org/officeDocument/2006/relationships/notesSlide" Target="../notesSlides/notesSlide4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54.xml"/><Relationship Id="rId31" Type="http://schemas.openxmlformats.org/officeDocument/2006/relationships/tags" Target="../tags/tag53.xml"/><Relationship Id="rId30" Type="http://schemas.openxmlformats.org/officeDocument/2006/relationships/tags" Target="../tags/tag52.xml"/><Relationship Id="rId3" Type="http://schemas.openxmlformats.org/officeDocument/2006/relationships/tags" Target="../tags/tag25.xml"/><Relationship Id="rId29" Type="http://schemas.openxmlformats.org/officeDocument/2006/relationships/tags" Target="../tags/tag51.xml"/><Relationship Id="rId28" Type="http://schemas.openxmlformats.org/officeDocument/2006/relationships/tags" Target="../tags/tag50.xml"/><Relationship Id="rId27" Type="http://schemas.openxmlformats.org/officeDocument/2006/relationships/tags" Target="../tags/tag49.xml"/><Relationship Id="rId26" Type="http://schemas.openxmlformats.org/officeDocument/2006/relationships/tags" Target="../tags/tag48.xml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9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9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0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1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1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4651" y="1734914"/>
            <a:ext cx="1219200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400" b="1" spc="300" dirty="0">
                <a:solidFill>
                  <a:schemeClr val="bg1"/>
                </a:solidFill>
                <a:cs typeface="+mn-ea"/>
                <a:sym typeface="+mn-lt"/>
              </a:rPr>
              <a:t>祥云物联平台的架构设计与实践分享</a:t>
            </a:r>
            <a:endParaRPr lang="zh-CN" altLang="en-US" sz="44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TextBox 60"/>
          <p:cNvSpPr txBox="1"/>
          <p:nvPr/>
        </p:nvSpPr>
        <p:spPr>
          <a:xfrm>
            <a:off x="4164966" y="305098"/>
            <a:ext cx="3646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zh-CN" sz="28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汉威科技集团</a:t>
            </a:r>
            <a:r>
              <a:rPr lang="zh-CN" altLang="en-US" sz="28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研究院</a:t>
            </a:r>
            <a:endParaRPr lang="en-US" altLang="zh-CN" sz="28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5"/>
          <p:cNvSpPr>
            <a:spLocks noChangeAspect="1" noChangeArrowheads="1"/>
          </p:cNvSpPr>
          <p:nvPr/>
        </p:nvSpPr>
        <p:spPr bwMode="auto">
          <a:xfrm>
            <a:off x="4803775" y="3881755"/>
            <a:ext cx="3434080" cy="725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342900" indent="-342900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编制部门：物联网与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技术中心</a:t>
            </a:r>
            <a:endParaRPr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编制人：韩鹏飞</a:t>
            </a:r>
            <a:endParaRPr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编制时间：202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4"/>
          <p:cNvGrpSpPr/>
          <p:nvPr/>
        </p:nvGrpSpPr>
        <p:grpSpPr>
          <a:xfrm>
            <a:off x="3575980" y="1992553"/>
            <a:ext cx="894260" cy="520700"/>
            <a:chOff x="0" y="0"/>
            <a:chExt cx="894259" cy="520699"/>
          </a:xfrm>
        </p:grpSpPr>
        <p:sp>
          <p:nvSpPr>
            <p:cNvPr id="7" name="平行四边形 45"/>
            <p:cNvSpPr/>
            <p:nvPr>
              <p:custDataLst>
                <p:tags r:id="rId1"/>
              </p:custDataLst>
            </p:nvPr>
          </p:nvSpPr>
          <p:spPr>
            <a:xfrm>
              <a:off x="0" y="29941"/>
              <a:ext cx="805294" cy="459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944" y="0"/>
                  </a:lnTo>
                  <a:lnTo>
                    <a:pt x="21600" y="0"/>
                  </a:lnTo>
                  <a:lnTo>
                    <a:pt x="15656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pPr>
            </a:p>
          </p:txBody>
        </p:sp>
        <p:sp>
          <p:nvSpPr>
            <p:cNvPr id="8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127832" y="0"/>
              <a:ext cx="766427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9" name="组合 47"/>
          <p:cNvGrpSpPr/>
          <p:nvPr/>
        </p:nvGrpSpPr>
        <p:grpSpPr>
          <a:xfrm>
            <a:off x="3575980" y="2672168"/>
            <a:ext cx="894260" cy="520700"/>
            <a:chOff x="0" y="0"/>
            <a:chExt cx="894259" cy="520699"/>
          </a:xfrm>
        </p:grpSpPr>
        <p:sp>
          <p:nvSpPr>
            <p:cNvPr id="10" name="平行四边形 48"/>
            <p:cNvSpPr/>
            <p:nvPr>
              <p:custDataLst>
                <p:tags r:id="rId3"/>
              </p:custDataLst>
            </p:nvPr>
          </p:nvSpPr>
          <p:spPr>
            <a:xfrm>
              <a:off x="0" y="44473"/>
              <a:ext cx="805294" cy="459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944" y="0"/>
                  </a:lnTo>
                  <a:lnTo>
                    <a:pt x="21600" y="0"/>
                  </a:lnTo>
                  <a:lnTo>
                    <a:pt x="15656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pPr>
            </a:p>
          </p:txBody>
        </p: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127832" y="0"/>
              <a:ext cx="766427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2" name="组合 50"/>
          <p:cNvGrpSpPr/>
          <p:nvPr/>
        </p:nvGrpSpPr>
        <p:grpSpPr>
          <a:xfrm>
            <a:off x="3575980" y="3374016"/>
            <a:ext cx="894260" cy="520700"/>
            <a:chOff x="0" y="0"/>
            <a:chExt cx="894259" cy="520699"/>
          </a:xfrm>
        </p:grpSpPr>
        <p:sp>
          <p:nvSpPr>
            <p:cNvPr id="13" name="平行四边形 51"/>
            <p:cNvSpPr/>
            <p:nvPr>
              <p:custDataLst>
                <p:tags r:id="rId5"/>
              </p:custDataLst>
            </p:nvPr>
          </p:nvSpPr>
          <p:spPr>
            <a:xfrm>
              <a:off x="0" y="36390"/>
              <a:ext cx="805294" cy="459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944" y="0"/>
                  </a:lnTo>
                  <a:lnTo>
                    <a:pt x="21600" y="0"/>
                  </a:lnTo>
                  <a:lnTo>
                    <a:pt x="15656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pPr>
            </a:p>
          </p:txBody>
        </p:sp>
        <p:sp>
          <p:nvSpPr>
            <p:cNvPr id="14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127832" y="0"/>
              <a:ext cx="766427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03</a:t>
              </a:r>
            </a:p>
          </p:txBody>
        </p:sp>
      </p:grpSp>
      <p:grpSp>
        <p:nvGrpSpPr>
          <p:cNvPr id="15" name="组合 53"/>
          <p:cNvGrpSpPr/>
          <p:nvPr/>
        </p:nvGrpSpPr>
        <p:grpSpPr>
          <a:xfrm>
            <a:off x="3575980" y="4056506"/>
            <a:ext cx="894260" cy="520700"/>
            <a:chOff x="0" y="0"/>
            <a:chExt cx="894259" cy="520699"/>
          </a:xfrm>
        </p:grpSpPr>
        <p:sp>
          <p:nvSpPr>
            <p:cNvPr id="16" name="平行四边形 54"/>
            <p:cNvSpPr/>
            <p:nvPr>
              <p:custDataLst>
                <p:tags r:id="rId7"/>
              </p:custDataLst>
            </p:nvPr>
          </p:nvSpPr>
          <p:spPr>
            <a:xfrm>
              <a:off x="0" y="48444"/>
              <a:ext cx="805294" cy="459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944" y="0"/>
                  </a:lnTo>
                  <a:lnTo>
                    <a:pt x="21600" y="0"/>
                  </a:lnTo>
                  <a:lnTo>
                    <a:pt x="15656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pPr>
            </a:p>
          </p:txBody>
        </p:sp>
        <p:sp>
          <p:nvSpPr>
            <p:cNvPr id="17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127832" y="0"/>
              <a:ext cx="766427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04</a:t>
              </a:r>
            </a:p>
          </p:txBody>
        </p:sp>
      </p:grpSp>
      <p:grpSp>
        <p:nvGrpSpPr>
          <p:cNvPr id="21" name="组合 59"/>
          <p:cNvGrpSpPr/>
          <p:nvPr/>
        </p:nvGrpSpPr>
        <p:grpSpPr>
          <a:xfrm>
            <a:off x="4255233" y="2005863"/>
            <a:ext cx="3857252" cy="459693"/>
            <a:chOff x="-1" y="-1"/>
            <a:chExt cx="3857251" cy="459692"/>
          </a:xfrm>
        </p:grpSpPr>
        <p:sp>
          <p:nvSpPr>
            <p:cNvPr id="22" name="矩形 60"/>
            <p:cNvSpPr txBox="1"/>
            <p:nvPr>
              <p:custDataLst>
                <p:tags r:id="rId9"/>
              </p:custDataLst>
            </p:nvPr>
          </p:nvSpPr>
          <p:spPr>
            <a:xfrm>
              <a:off x="526045" y="70362"/>
              <a:ext cx="2827148" cy="345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b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2B4D89"/>
                  </a:solidFill>
                </a:rPr>
                <a:t>祥云平台技术演进</a:t>
              </a:r>
              <a:endParaRPr lang="zh-CN" altLang="en-US" dirty="0">
                <a:solidFill>
                  <a:srgbClr val="2B4D89"/>
                </a:solidFill>
              </a:endParaRPr>
            </a:p>
          </p:txBody>
        </p:sp>
        <p:sp>
          <p:nvSpPr>
            <p:cNvPr id="23" name="平行四边形 61"/>
            <p:cNvSpPr/>
            <p:nvPr>
              <p:custDataLst>
                <p:tags r:id="rId10"/>
              </p:custDataLst>
            </p:nvPr>
          </p:nvSpPr>
          <p:spPr>
            <a:xfrm>
              <a:off x="-1" y="-1"/>
              <a:ext cx="3857251" cy="45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41" y="0"/>
                  </a:lnTo>
                  <a:lnTo>
                    <a:pt x="21600" y="0"/>
                  </a:lnTo>
                  <a:lnTo>
                    <a:pt x="20359" y="21600"/>
                  </a:lnTo>
                  <a:close/>
                </a:path>
              </a:pathLst>
            </a:custGeom>
            <a:noFill/>
            <a:ln w="1587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 b="1">
                  <a:solidFill>
                    <a:srgbClr val="404040"/>
                  </a:solidFill>
                </a:defRPr>
              </a:pPr>
              <a:endParaRPr>
                <a:solidFill>
                  <a:srgbClr val="2B4D89"/>
                </a:solidFill>
              </a:endParaRPr>
            </a:p>
          </p:txBody>
        </p:sp>
      </p:grpSp>
      <p:grpSp>
        <p:nvGrpSpPr>
          <p:cNvPr id="24" name="组合 62"/>
          <p:cNvGrpSpPr/>
          <p:nvPr/>
        </p:nvGrpSpPr>
        <p:grpSpPr>
          <a:xfrm>
            <a:off x="4255233" y="2703192"/>
            <a:ext cx="3857252" cy="459693"/>
            <a:chOff x="-1" y="-1"/>
            <a:chExt cx="3857251" cy="459692"/>
          </a:xfrm>
        </p:grpSpPr>
        <p:sp>
          <p:nvSpPr>
            <p:cNvPr id="25" name="矩形 63"/>
            <p:cNvSpPr txBox="1"/>
            <p:nvPr>
              <p:custDataLst>
                <p:tags r:id="rId11"/>
              </p:custDataLst>
            </p:nvPr>
          </p:nvSpPr>
          <p:spPr>
            <a:xfrm>
              <a:off x="526045" y="70362"/>
              <a:ext cx="2827148" cy="345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b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lang="zh-CN" dirty="0">
                  <a:solidFill>
                    <a:srgbClr val="2B4D89"/>
                  </a:solidFill>
                </a:rPr>
                <a:t>祥云平台技术架构</a:t>
              </a:r>
              <a:endParaRPr lang="zh-CN" dirty="0">
                <a:solidFill>
                  <a:srgbClr val="2B4D89"/>
                </a:solidFill>
              </a:endParaRPr>
            </a:p>
          </p:txBody>
        </p:sp>
        <p:sp>
          <p:nvSpPr>
            <p:cNvPr id="26" name="平行四边形 64"/>
            <p:cNvSpPr/>
            <p:nvPr>
              <p:custDataLst>
                <p:tags r:id="rId12"/>
              </p:custDataLst>
            </p:nvPr>
          </p:nvSpPr>
          <p:spPr>
            <a:xfrm>
              <a:off x="-1" y="-1"/>
              <a:ext cx="3857251" cy="45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41" y="0"/>
                  </a:lnTo>
                  <a:lnTo>
                    <a:pt x="21600" y="0"/>
                  </a:lnTo>
                  <a:lnTo>
                    <a:pt x="20359" y="21600"/>
                  </a:lnTo>
                  <a:close/>
                </a:path>
              </a:pathLst>
            </a:custGeom>
            <a:noFill/>
            <a:ln w="1587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 b="1">
                  <a:solidFill>
                    <a:srgbClr val="404040"/>
                  </a:solidFill>
                </a:defRPr>
              </a:pPr>
              <a:endParaRPr>
                <a:solidFill>
                  <a:srgbClr val="2B4D89"/>
                </a:solidFill>
              </a:endParaRPr>
            </a:p>
          </p:txBody>
        </p:sp>
      </p:grpSp>
      <p:grpSp>
        <p:nvGrpSpPr>
          <p:cNvPr id="27" name="组合 65"/>
          <p:cNvGrpSpPr/>
          <p:nvPr/>
        </p:nvGrpSpPr>
        <p:grpSpPr>
          <a:xfrm>
            <a:off x="4255233" y="3394169"/>
            <a:ext cx="3857252" cy="459693"/>
            <a:chOff x="-1" y="-1"/>
            <a:chExt cx="3857251" cy="459692"/>
          </a:xfrm>
        </p:grpSpPr>
        <p:sp>
          <p:nvSpPr>
            <p:cNvPr id="28" name="矩形 66"/>
            <p:cNvSpPr txBox="1"/>
            <p:nvPr>
              <p:custDataLst>
                <p:tags r:id="rId13"/>
              </p:custDataLst>
            </p:nvPr>
          </p:nvSpPr>
          <p:spPr>
            <a:xfrm>
              <a:off x="526046" y="70362"/>
              <a:ext cx="2827147" cy="345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b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lang="zh-CN">
                  <a:solidFill>
                    <a:srgbClr val="2B4D89"/>
                  </a:solidFill>
                </a:rPr>
                <a:t>祥云平台的服务拆分</a:t>
              </a:r>
              <a:endParaRPr lang="zh-CN">
                <a:solidFill>
                  <a:srgbClr val="2B4D89"/>
                </a:solidFill>
              </a:endParaRPr>
            </a:p>
          </p:txBody>
        </p:sp>
        <p:sp>
          <p:nvSpPr>
            <p:cNvPr id="29" name="平行四边形 67"/>
            <p:cNvSpPr/>
            <p:nvPr>
              <p:custDataLst>
                <p:tags r:id="rId14"/>
              </p:custDataLst>
            </p:nvPr>
          </p:nvSpPr>
          <p:spPr>
            <a:xfrm>
              <a:off x="-1" y="-1"/>
              <a:ext cx="3857251" cy="45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41" y="0"/>
                  </a:lnTo>
                  <a:lnTo>
                    <a:pt x="21600" y="0"/>
                  </a:lnTo>
                  <a:lnTo>
                    <a:pt x="20359" y="21600"/>
                  </a:lnTo>
                  <a:close/>
                </a:path>
              </a:pathLst>
            </a:custGeom>
            <a:noFill/>
            <a:ln w="1587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 b="1">
                  <a:solidFill>
                    <a:srgbClr val="404040"/>
                  </a:solidFill>
                </a:defRPr>
              </a:pPr>
              <a:endParaRPr>
                <a:solidFill>
                  <a:srgbClr val="2B4D89"/>
                </a:solidFill>
              </a:endParaRPr>
            </a:p>
          </p:txBody>
        </p:sp>
      </p:grpSp>
      <p:grpSp>
        <p:nvGrpSpPr>
          <p:cNvPr id="30" name="组合 68"/>
          <p:cNvGrpSpPr/>
          <p:nvPr/>
        </p:nvGrpSpPr>
        <p:grpSpPr>
          <a:xfrm>
            <a:off x="4255233" y="4088321"/>
            <a:ext cx="3857252" cy="459693"/>
            <a:chOff x="-1" y="-1"/>
            <a:chExt cx="3857251" cy="459692"/>
          </a:xfrm>
        </p:grpSpPr>
        <p:sp>
          <p:nvSpPr>
            <p:cNvPr id="31" name="矩形 69"/>
            <p:cNvSpPr txBox="1"/>
            <p:nvPr>
              <p:custDataLst>
                <p:tags r:id="rId15"/>
              </p:custDataLst>
            </p:nvPr>
          </p:nvSpPr>
          <p:spPr>
            <a:xfrm>
              <a:off x="526045" y="70362"/>
              <a:ext cx="2827148" cy="345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b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lang="zh-CN">
                  <a:solidFill>
                    <a:srgbClr val="2B4D89"/>
                  </a:solidFill>
                </a:rPr>
                <a:t>未来探索服务网格</a:t>
              </a:r>
              <a:endParaRPr lang="zh-CN">
                <a:solidFill>
                  <a:srgbClr val="2B4D89"/>
                </a:solidFill>
              </a:endParaRPr>
            </a:p>
          </p:txBody>
        </p:sp>
        <p:sp>
          <p:nvSpPr>
            <p:cNvPr id="32" name="平行四边形 70"/>
            <p:cNvSpPr/>
            <p:nvPr>
              <p:custDataLst>
                <p:tags r:id="rId16"/>
              </p:custDataLst>
            </p:nvPr>
          </p:nvSpPr>
          <p:spPr>
            <a:xfrm>
              <a:off x="-1" y="-1"/>
              <a:ext cx="3857251" cy="45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41" y="0"/>
                  </a:lnTo>
                  <a:lnTo>
                    <a:pt x="21600" y="0"/>
                  </a:lnTo>
                  <a:lnTo>
                    <a:pt x="20359" y="21600"/>
                  </a:lnTo>
                  <a:close/>
                </a:path>
              </a:pathLst>
            </a:custGeom>
            <a:noFill/>
            <a:ln w="1587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 b="1">
                  <a:solidFill>
                    <a:srgbClr val="404040"/>
                  </a:solidFill>
                </a:defRPr>
              </a:pPr>
              <a:endParaRPr>
                <a:solidFill>
                  <a:srgbClr val="2B4D89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06949" y="765250"/>
            <a:ext cx="1424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u="sng" dirty="0">
                <a:solidFill>
                  <a:srgbClr val="2B4D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u="sng" dirty="0">
              <a:solidFill>
                <a:srgbClr val="2B4D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9"/>
          <p:cNvSpPr/>
          <p:nvPr/>
        </p:nvSpPr>
        <p:spPr bwMode="auto">
          <a:xfrm>
            <a:off x="5944235" y="277687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grpSp>
        <p:nvGrpSpPr>
          <p:cNvPr id="348" name="组合 41"/>
          <p:cNvGrpSpPr/>
          <p:nvPr/>
        </p:nvGrpSpPr>
        <p:grpSpPr>
          <a:xfrm>
            <a:off x="1524600" y="2509079"/>
            <a:ext cx="9144000" cy="1814780"/>
            <a:chOff x="0" y="0"/>
            <a:chExt cx="9144000" cy="1814778"/>
          </a:xfrm>
        </p:grpSpPr>
        <p:sp>
          <p:nvSpPr>
            <p:cNvPr id="343" name="等腰三角形 43"/>
            <p:cNvSpPr/>
            <p:nvPr>
              <p:custDataLst>
                <p:tags r:id="rId1"/>
              </p:custDataLst>
            </p:nvPr>
          </p:nvSpPr>
          <p:spPr>
            <a:xfrm>
              <a:off x="2469920" y="0"/>
              <a:ext cx="825386" cy="828242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等腰三角形 44"/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68682" y="986535"/>
              <a:ext cx="825385" cy="828243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矩形 45"/>
            <p:cNvSpPr/>
            <p:nvPr>
              <p:custDataLst>
                <p:tags r:id="rId3"/>
              </p:custDataLst>
            </p:nvPr>
          </p:nvSpPr>
          <p:spPr>
            <a:xfrm>
              <a:off x="0" y="194648"/>
              <a:ext cx="9144000" cy="142173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6" name="平行四边形 46"/>
            <p:cNvSpPr/>
            <p:nvPr>
              <p:custDataLst>
                <p:tags r:id="rId4"/>
              </p:custDataLst>
            </p:nvPr>
          </p:nvSpPr>
          <p:spPr>
            <a:xfrm>
              <a:off x="479202" y="638"/>
              <a:ext cx="2406979" cy="1809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829" y="0"/>
                  </a:lnTo>
                  <a:lnTo>
                    <a:pt x="21600" y="0"/>
                  </a:lnTo>
                  <a:lnTo>
                    <a:pt x="1377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115615" y="246711"/>
              <a:ext cx="1322150" cy="12992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sz="8000">
                  <a:solidFill>
                    <a:srgbClr val="F2F2F2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349" name="TextBox 48"/>
          <p:cNvSpPr txBox="1"/>
          <p:nvPr>
            <p:custDataLst>
              <p:tags r:id="rId6"/>
            </p:custDataLst>
          </p:nvPr>
        </p:nvSpPr>
        <p:spPr>
          <a:xfrm>
            <a:off x="4507865" y="3094355"/>
            <a:ext cx="5495925" cy="622300"/>
          </a:xfrm>
          <a:prstGeom prst="rect">
            <a:avLst/>
          </a:prstGeom>
          <a:ln w="12700">
            <a:miter lim="400000"/>
          </a:ln>
        </p:spPr>
        <p:txBody>
          <a:bodyPr wrap="square" lIns="34290" tIns="34290" rIns="34290" bIns="34290">
            <a:spAutoFit/>
          </a:bodyPr>
          <a:lstStyle>
            <a:lvl1pPr>
              <a:defRPr sz="3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chemeClr val="bg1"/>
                </a:solidFill>
              </a:rPr>
              <a:t>祥云平台技术演进</a:t>
            </a:r>
            <a:endParaRPr 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99278" y="2617380"/>
            <a:ext cx="7794603" cy="2388945"/>
            <a:chOff x="3542" y="4132"/>
            <a:chExt cx="12275" cy="3762"/>
          </a:xfrm>
        </p:grpSpPr>
        <p:sp>
          <p:nvSpPr>
            <p:cNvPr id="28" name="AutoShape 149"/>
            <p:cNvSpPr/>
            <p:nvPr/>
          </p:nvSpPr>
          <p:spPr bwMode="auto">
            <a:xfrm>
              <a:off x="9426" y="4161"/>
              <a:ext cx="480" cy="34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537" y="19720"/>
                  </a:moveTo>
                  <a:lnTo>
                    <a:pt x="16537" y="19721"/>
                  </a:lnTo>
                  <a:lnTo>
                    <a:pt x="4387" y="19721"/>
                  </a:lnTo>
                  <a:cubicBezTo>
                    <a:pt x="2713" y="19720"/>
                    <a:pt x="1350" y="17824"/>
                    <a:pt x="1350" y="15494"/>
                  </a:cubicBezTo>
                  <a:cubicBezTo>
                    <a:pt x="1350" y="13992"/>
                    <a:pt x="1918" y="12635"/>
                    <a:pt x="2871" y="11862"/>
                  </a:cubicBezTo>
                  <a:cubicBezTo>
                    <a:pt x="3797" y="11123"/>
                    <a:pt x="3860" y="10975"/>
                    <a:pt x="3472" y="9647"/>
                  </a:cubicBezTo>
                  <a:cubicBezTo>
                    <a:pt x="3406" y="9374"/>
                    <a:pt x="3375" y="9136"/>
                    <a:pt x="3375" y="8921"/>
                  </a:cubicBezTo>
                  <a:cubicBezTo>
                    <a:pt x="3375" y="7626"/>
                    <a:pt x="4131" y="6573"/>
                    <a:pt x="5062" y="6573"/>
                  </a:cubicBezTo>
                  <a:cubicBezTo>
                    <a:pt x="5062" y="6573"/>
                    <a:pt x="5505" y="6529"/>
                    <a:pt x="5976" y="6789"/>
                  </a:cubicBezTo>
                  <a:cubicBezTo>
                    <a:pt x="6750" y="7219"/>
                    <a:pt x="6834" y="6808"/>
                    <a:pt x="7200" y="5701"/>
                  </a:cubicBezTo>
                  <a:cubicBezTo>
                    <a:pt x="7974" y="3380"/>
                    <a:pt x="9652" y="1878"/>
                    <a:pt x="11475" y="1878"/>
                  </a:cubicBezTo>
                  <a:cubicBezTo>
                    <a:pt x="13905" y="1878"/>
                    <a:pt x="15914" y="4435"/>
                    <a:pt x="16148" y="7826"/>
                  </a:cubicBezTo>
                  <a:cubicBezTo>
                    <a:pt x="16231" y="9171"/>
                    <a:pt x="16231" y="9171"/>
                    <a:pt x="17239" y="9491"/>
                  </a:cubicBezTo>
                  <a:cubicBezTo>
                    <a:pt x="18984" y="9955"/>
                    <a:pt x="20250" y="12085"/>
                    <a:pt x="20250" y="14555"/>
                  </a:cubicBezTo>
                  <a:cubicBezTo>
                    <a:pt x="20250" y="17404"/>
                    <a:pt x="18585" y="19720"/>
                    <a:pt x="16537" y="19720"/>
                  </a:cubicBezTo>
                  <a:moveTo>
                    <a:pt x="17492" y="7647"/>
                  </a:moveTo>
                  <a:cubicBezTo>
                    <a:pt x="17196" y="3362"/>
                    <a:pt x="14632" y="0"/>
                    <a:pt x="11475" y="0"/>
                  </a:cubicBezTo>
                  <a:cubicBezTo>
                    <a:pt x="9031" y="0"/>
                    <a:pt x="6939" y="2017"/>
                    <a:pt x="5976" y="4911"/>
                  </a:cubicBezTo>
                  <a:cubicBezTo>
                    <a:pt x="5685" y="4784"/>
                    <a:pt x="5383" y="4695"/>
                    <a:pt x="5062" y="4695"/>
                  </a:cubicBezTo>
                  <a:cubicBezTo>
                    <a:pt x="3385" y="4695"/>
                    <a:pt x="2025" y="6589"/>
                    <a:pt x="2025" y="8921"/>
                  </a:cubicBezTo>
                  <a:cubicBezTo>
                    <a:pt x="2025" y="9385"/>
                    <a:pt x="2092" y="9824"/>
                    <a:pt x="2191" y="10240"/>
                  </a:cubicBezTo>
                  <a:cubicBezTo>
                    <a:pt x="886" y="11298"/>
                    <a:pt x="0" y="13242"/>
                    <a:pt x="0" y="15494"/>
                  </a:cubicBezTo>
                  <a:cubicBezTo>
                    <a:pt x="0" y="18866"/>
                    <a:pt x="1964" y="21599"/>
                    <a:pt x="4387" y="21599"/>
                  </a:cubicBezTo>
                  <a:lnTo>
                    <a:pt x="4387" y="21600"/>
                  </a:lnTo>
                  <a:lnTo>
                    <a:pt x="16537" y="21600"/>
                  </a:lnTo>
                  <a:lnTo>
                    <a:pt x="16537" y="21599"/>
                  </a:lnTo>
                  <a:cubicBezTo>
                    <a:pt x="19334" y="21599"/>
                    <a:pt x="21599" y="18446"/>
                    <a:pt x="21599" y="14555"/>
                  </a:cubicBezTo>
                  <a:cubicBezTo>
                    <a:pt x="21599" y="11120"/>
                    <a:pt x="19831" y="8269"/>
                    <a:pt x="17492" y="7647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u="none" strike="noStrike" kern="0" cap="none" spc="0" normalizeH="0" baseline="0" noProof="0" dirty="0">
                <a:ln>
                  <a:noFill/>
                </a:ln>
                <a:solidFill>
                  <a:srgbClr val="2B4D8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4391" y="7549"/>
              <a:ext cx="10550" cy="345"/>
              <a:chOff x="4195" y="4103"/>
              <a:chExt cx="10550" cy="345"/>
            </a:xfrm>
          </p:grpSpPr>
          <p:sp>
            <p:nvSpPr>
              <p:cNvPr id="44" name="AutoShape 149"/>
              <p:cNvSpPr/>
              <p:nvPr/>
            </p:nvSpPr>
            <p:spPr bwMode="auto">
              <a:xfrm>
                <a:off x="4195" y="4103"/>
                <a:ext cx="480" cy="34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537" y="19720"/>
                    </a:moveTo>
                    <a:lnTo>
                      <a:pt x="16537" y="19721"/>
                    </a:lnTo>
                    <a:lnTo>
                      <a:pt x="4387" y="19721"/>
                    </a:lnTo>
                    <a:cubicBezTo>
                      <a:pt x="2713" y="19720"/>
                      <a:pt x="1350" y="17824"/>
                      <a:pt x="1350" y="15494"/>
                    </a:cubicBezTo>
                    <a:cubicBezTo>
                      <a:pt x="1350" y="13992"/>
                      <a:pt x="1918" y="12635"/>
                      <a:pt x="2871" y="11862"/>
                    </a:cubicBezTo>
                    <a:cubicBezTo>
                      <a:pt x="3797" y="11123"/>
                      <a:pt x="3860" y="10975"/>
                      <a:pt x="3472" y="9647"/>
                    </a:cubicBezTo>
                    <a:cubicBezTo>
                      <a:pt x="3406" y="9374"/>
                      <a:pt x="3375" y="9136"/>
                      <a:pt x="3375" y="8921"/>
                    </a:cubicBezTo>
                    <a:cubicBezTo>
                      <a:pt x="3375" y="7626"/>
                      <a:pt x="4131" y="6573"/>
                      <a:pt x="5062" y="6573"/>
                    </a:cubicBezTo>
                    <a:cubicBezTo>
                      <a:pt x="5062" y="6573"/>
                      <a:pt x="5505" y="6529"/>
                      <a:pt x="5976" y="6789"/>
                    </a:cubicBezTo>
                    <a:cubicBezTo>
                      <a:pt x="6750" y="7219"/>
                      <a:pt x="6834" y="6808"/>
                      <a:pt x="7200" y="5701"/>
                    </a:cubicBezTo>
                    <a:cubicBezTo>
                      <a:pt x="7974" y="3380"/>
                      <a:pt x="9652" y="1878"/>
                      <a:pt x="11475" y="1878"/>
                    </a:cubicBezTo>
                    <a:cubicBezTo>
                      <a:pt x="13905" y="1878"/>
                      <a:pt x="15914" y="4435"/>
                      <a:pt x="16148" y="7826"/>
                    </a:cubicBezTo>
                    <a:cubicBezTo>
                      <a:pt x="16231" y="9171"/>
                      <a:pt x="16231" y="9171"/>
                      <a:pt x="17239" y="9491"/>
                    </a:cubicBezTo>
                    <a:cubicBezTo>
                      <a:pt x="18984" y="9955"/>
                      <a:pt x="20250" y="12085"/>
                      <a:pt x="20250" y="14555"/>
                    </a:cubicBezTo>
                    <a:cubicBezTo>
                      <a:pt x="20250" y="17404"/>
                      <a:pt x="18585" y="19720"/>
                      <a:pt x="16537" y="19720"/>
                    </a:cubicBezTo>
                    <a:moveTo>
                      <a:pt x="17492" y="7647"/>
                    </a:moveTo>
                    <a:cubicBezTo>
                      <a:pt x="17196" y="3362"/>
                      <a:pt x="14632" y="0"/>
                      <a:pt x="11475" y="0"/>
                    </a:cubicBezTo>
                    <a:cubicBezTo>
                      <a:pt x="9031" y="0"/>
                      <a:pt x="6939" y="2017"/>
                      <a:pt x="5976" y="4911"/>
                    </a:cubicBezTo>
                    <a:cubicBezTo>
                      <a:pt x="5685" y="4784"/>
                      <a:pt x="5383" y="4695"/>
                      <a:pt x="5062" y="4695"/>
                    </a:cubicBezTo>
                    <a:cubicBezTo>
                      <a:pt x="3385" y="4695"/>
                      <a:pt x="2025" y="6589"/>
                      <a:pt x="2025" y="8921"/>
                    </a:cubicBezTo>
                    <a:cubicBezTo>
                      <a:pt x="2025" y="9385"/>
                      <a:pt x="2092" y="9824"/>
                      <a:pt x="2191" y="10240"/>
                    </a:cubicBezTo>
                    <a:cubicBezTo>
                      <a:pt x="886" y="11298"/>
                      <a:pt x="0" y="13242"/>
                      <a:pt x="0" y="15494"/>
                    </a:cubicBezTo>
                    <a:cubicBezTo>
                      <a:pt x="0" y="18866"/>
                      <a:pt x="1964" y="21599"/>
                      <a:pt x="4387" y="21599"/>
                    </a:cubicBezTo>
                    <a:lnTo>
                      <a:pt x="4387" y="21600"/>
                    </a:lnTo>
                    <a:lnTo>
                      <a:pt x="16537" y="21600"/>
                    </a:lnTo>
                    <a:lnTo>
                      <a:pt x="16537" y="21599"/>
                    </a:lnTo>
                    <a:cubicBezTo>
                      <a:pt x="19334" y="21599"/>
                      <a:pt x="21599" y="18446"/>
                      <a:pt x="21599" y="14555"/>
                    </a:cubicBezTo>
                    <a:cubicBezTo>
                      <a:pt x="21599" y="11120"/>
                      <a:pt x="19831" y="8269"/>
                      <a:pt x="17492" y="7647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u="none" strike="noStrike" kern="0" cap="none" spc="0" normalizeH="0" baseline="0" noProof="0" dirty="0">
                  <a:ln>
                    <a:noFill/>
                  </a:ln>
                  <a:solidFill>
                    <a:srgbClr val="2B4D8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AutoShape 149"/>
              <p:cNvSpPr/>
              <p:nvPr/>
            </p:nvSpPr>
            <p:spPr bwMode="auto">
              <a:xfrm>
                <a:off x="9230" y="4103"/>
                <a:ext cx="480" cy="34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537" y="19720"/>
                    </a:moveTo>
                    <a:lnTo>
                      <a:pt x="16537" y="19721"/>
                    </a:lnTo>
                    <a:lnTo>
                      <a:pt x="4387" y="19721"/>
                    </a:lnTo>
                    <a:cubicBezTo>
                      <a:pt x="2713" y="19720"/>
                      <a:pt x="1350" y="17824"/>
                      <a:pt x="1350" y="15494"/>
                    </a:cubicBezTo>
                    <a:cubicBezTo>
                      <a:pt x="1350" y="13992"/>
                      <a:pt x="1918" y="12635"/>
                      <a:pt x="2871" y="11862"/>
                    </a:cubicBezTo>
                    <a:cubicBezTo>
                      <a:pt x="3797" y="11123"/>
                      <a:pt x="3860" y="10975"/>
                      <a:pt x="3472" y="9647"/>
                    </a:cubicBezTo>
                    <a:cubicBezTo>
                      <a:pt x="3406" y="9374"/>
                      <a:pt x="3375" y="9136"/>
                      <a:pt x="3375" y="8921"/>
                    </a:cubicBezTo>
                    <a:cubicBezTo>
                      <a:pt x="3375" y="7626"/>
                      <a:pt x="4131" y="6573"/>
                      <a:pt x="5062" y="6573"/>
                    </a:cubicBezTo>
                    <a:cubicBezTo>
                      <a:pt x="5062" y="6573"/>
                      <a:pt x="5505" y="6529"/>
                      <a:pt x="5976" y="6789"/>
                    </a:cubicBezTo>
                    <a:cubicBezTo>
                      <a:pt x="6750" y="7219"/>
                      <a:pt x="6834" y="6808"/>
                      <a:pt x="7200" y="5701"/>
                    </a:cubicBezTo>
                    <a:cubicBezTo>
                      <a:pt x="7974" y="3380"/>
                      <a:pt x="9652" y="1878"/>
                      <a:pt x="11475" y="1878"/>
                    </a:cubicBezTo>
                    <a:cubicBezTo>
                      <a:pt x="13905" y="1878"/>
                      <a:pt x="15914" y="4435"/>
                      <a:pt x="16148" y="7826"/>
                    </a:cubicBezTo>
                    <a:cubicBezTo>
                      <a:pt x="16231" y="9171"/>
                      <a:pt x="16231" y="9171"/>
                      <a:pt x="17239" y="9491"/>
                    </a:cubicBezTo>
                    <a:cubicBezTo>
                      <a:pt x="18984" y="9955"/>
                      <a:pt x="20250" y="12085"/>
                      <a:pt x="20250" y="14555"/>
                    </a:cubicBezTo>
                    <a:cubicBezTo>
                      <a:pt x="20250" y="17404"/>
                      <a:pt x="18585" y="19720"/>
                      <a:pt x="16537" y="19720"/>
                    </a:cubicBezTo>
                    <a:moveTo>
                      <a:pt x="17492" y="7647"/>
                    </a:moveTo>
                    <a:cubicBezTo>
                      <a:pt x="17196" y="3362"/>
                      <a:pt x="14632" y="0"/>
                      <a:pt x="11475" y="0"/>
                    </a:cubicBezTo>
                    <a:cubicBezTo>
                      <a:pt x="9031" y="0"/>
                      <a:pt x="6939" y="2017"/>
                      <a:pt x="5976" y="4911"/>
                    </a:cubicBezTo>
                    <a:cubicBezTo>
                      <a:pt x="5685" y="4784"/>
                      <a:pt x="5383" y="4695"/>
                      <a:pt x="5062" y="4695"/>
                    </a:cubicBezTo>
                    <a:cubicBezTo>
                      <a:pt x="3385" y="4695"/>
                      <a:pt x="2025" y="6589"/>
                      <a:pt x="2025" y="8921"/>
                    </a:cubicBezTo>
                    <a:cubicBezTo>
                      <a:pt x="2025" y="9385"/>
                      <a:pt x="2092" y="9824"/>
                      <a:pt x="2191" y="10240"/>
                    </a:cubicBezTo>
                    <a:cubicBezTo>
                      <a:pt x="886" y="11298"/>
                      <a:pt x="0" y="13242"/>
                      <a:pt x="0" y="15494"/>
                    </a:cubicBezTo>
                    <a:cubicBezTo>
                      <a:pt x="0" y="18866"/>
                      <a:pt x="1964" y="21599"/>
                      <a:pt x="4387" y="21599"/>
                    </a:cubicBezTo>
                    <a:lnTo>
                      <a:pt x="4387" y="21600"/>
                    </a:lnTo>
                    <a:lnTo>
                      <a:pt x="16537" y="21600"/>
                    </a:lnTo>
                    <a:lnTo>
                      <a:pt x="16537" y="21599"/>
                    </a:lnTo>
                    <a:cubicBezTo>
                      <a:pt x="19334" y="21599"/>
                      <a:pt x="21599" y="18446"/>
                      <a:pt x="21599" y="14555"/>
                    </a:cubicBezTo>
                    <a:cubicBezTo>
                      <a:pt x="21599" y="11120"/>
                      <a:pt x="19831" y="8269"/>
                      <a:pt x="17492" y="7647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u="none" strike="noStrike" kern="0" cap="none" spc="0" normalizeH="0" baseline="0" noProof="0" dirty="0">
                  <a:ln>
                    <a:noFill/>
                  </a:ln>
                  <a:solidFill>
                    <a:srgbClr val="2B4D8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AutoShape 149"/>
              <p:cNvSpPr/>
              <p:nvPr/>
            </p:nvSpPr>
            <p:spPr bwMode="auto">
              <a:xfrm>
                <a:off x="14265" y="4103"/>
                <a:ext cx="480" cy="34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537" y="19720"/>
                    </a:moveTo>
                    <a:lnTo>
                      <a:pt x="16537" y="19721"/>
                    </a:lnTo>
                    <a:lnTo>
                      <a:pt x="4387" y="19721"/>
                    </a:lnTo>
                    <a:cubicBezTo>
                      <a:pt x="2713" y="19720"/>
                      <a:pt x="1350" y="17824"/>
                      <a:pt x="1350" y="15494"/>
                    </a:cubicBezTo>
                    <a:cubicBezTo>
                      <a:pt x="1350" y="13992"/>
                      <a:pt x="1918" y="12635"/>
                      <a:pt x="2871" y="11862"/>
                    </a:cubicBezTo>
                    <a:cubicBezTo>
                      <a:pt x="3797" y="11123"/>
                      <a:pt x="3860" y="10975"/>
                      <a:pt x="3472" y="9647"/>
                    </a:cubicBezTo>
                    <a:cubicBezTo>
                      <a:pt x="3406" y="9374"/>
                      <a:pt x="3375" y="9136"/>
                      <a:pt x="3375" y="8921"/>
                    </a:cubicBezTo>
                    <a:cubicBezTo>
                      <a:pt x="3375" y="7626"/>
                      <a:pt x="4131" y="6573"/>
                      <a:pt x="5062" y="6573"/>
                    </a:cubicBezTo>
                    <a:cubicBezTo>
                      <a:pt x="5062" y="6573"/>
                      <a:pt x="5505" y="6529"/>
                      <a:pt x="5976" y="6789"/>
                    </a:cubicBezTo>
                    <a:cubicBezTo>
                      <a:pt x="6750" y="7219"/>
                      <a:pt x="6834" y="6808"/>
                      <a:pt x="7200" y="5701"/>
                    </a:cubicBezTo>
                    <a:cubicBezTo>
                      <a:pt x="7974" y="3380"/>
                      <a:pt x="9652" y="1878"/>
                      <a:pt x="11475" y="1878"/>
                    </a:cubicBezTo>
                    <a:cubicBezTo>
                      <a:pt x="13905" y="1878"/>
                      <a:pt x="15914" y="4435"/>
                      <a:pt x="16148" y="7826"/>
                    </a:cubicBezTo>
                    <a:cubicBezTo>
                      <a:pt x="16231" y="9171"/>
                      <a:pt x="16231" y="9171"/>
                      <a:pt x="17239" y="9491"/>
                    </a:cubicBezTo>
                    <a:cubicBezTo>
                      <a:pt x="18984" y="9955"/>
                      <a:pt x="20250" y="12085"/>
                      <a:pt x="20250" y="14555"/>
                    </a:cubicBezTo>
                    <a:cubicBezTo>
                      <a:pt x="20250" y="17404"/>
                      <a:pt x="18585" y="19720"/>
                      <a:pt x="16537" y="19720"/>
                    </a:cubicBezTo>
                    <a:moveTo>
                      <a:pt x="17492" y="7647"/>
                    </a:moveTo>
                    <a:cubicBezTo>
                      <a:pt x="17196" y="3362"/>
                      <a:pt x="14632" y="0"/>
                      <a:pt x="11475" y="0"/>
                    </a:cubicBezTo>
                    <a:cubicBezTo>
                      <a:pt x="9031" y="0"/>
                      <a:pt x="6939" y="2017"/>
                      <a:pt x="5976" y="4911"/>
                    </a:cubicBezTo>
                    <a:cubicBezTo>
                      <a:pt x="5685" y="4784"/>
                      <a:pt x="5383" y="4695"/>
                      <a:pt x="5062" y="4695"/>
                    </a:cubicBezTo>
                    <a:cubicBezTo>
                      <a:pt x="3385" y="4695"/>
                      <a:pt x="2025" y="6589"/>
                      <a:pt x="2025" y="8921"/>
                    </a:cubicBezTo>
                    <a:cubicBezTo>
                      <a:pt x="2025" y="9385"/>
                      <a:pt x="2092" y="9824"/>
                      <a:pt x="2191" y="10240"/>
                    </a:cubicBezTo>
                    <a:cubicBezTo>
                      <a:pt x="886" y="11298"/>
                      <a:pt x="0" y="13242"/>
                      <a:pt x="0" y="15494"/>
                    </a:cubicBezTo>
                    <a:cubicBezTo>
                      <a:pt x="0" y="18866"/>
                      <a:pt x="1964" y="21599"/>
                      <a:pt x="4387" y="21599"/>
                    </a:cubicBezTo>
                    <a:lnTo>
                      <a:pt x="4387" y="21600"/>
                    </a:lnTo>
                    <a:lnTo>
                      <a:pt x="16537" y="21600"/>
                    </a:lnTo>
                    <a:lnTo>
                      <a:pt x="16537" y="21599"/>
                    </a:lnTo>
                    <a:cubicBezTo>
                      <a:pt x="19334" y="21599"/>
                      <a:pt x="21599" y="18446"/>
                      <a:pt x="21599" y="14555"/>
                    </a:cubicBezTo>
                    <a:cubicBezTo>
                      <a:pt x="21599" y="11120"/>
                      <a:pt x="19831" y="8269"/>
                      <a:pt x="17492" y="7647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u="none" strike="noStrike" kern="0" cap="none" spc="0" normalizeH="0" baseline="0" noProof="0" dirty="0">
                  <a:ln>
                    <a:noFill/>
                  </a:ln>
                  <a:solidFill>
                    <a:srgbClr val="2B4D8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16" name="Freeform 5"/>
            <p:cNvSpPr/>
            <p:nvPr>
              <p:custDataLst>
                <p:tags r:id="rId1"/>
              </p:custDataLst>
            </p:nvPr>
          </p:nvSpPr>
          <p:spPr>
            <a:xfrm>
              <a:off x="13926" y="4982"/>
              <a:ext cx="590" cy="1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966"/>
                  </a:moveTo>
                  <a:lnTo>
                    <a:pt x="21600" y="21600"/>
                  </a:lnTo>
                  <a:lnTo>
                    <a:pt x="0" y="14584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1600" y="6966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17" name="Freeform 8"/>
            <p:cNvSpPr/>
            <p:nvPr>
              <p:custDataLst>
                <p:tags r:id="rId2"/>
              </p:custDataLst>
            </p:nvPr>
          </p:nvSpPr>
          <p:spPr>
            <a:xfrm>
              <a:off x="12117" y="4982"/>
              <a:ext cx="592" cy="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7"/>
                  </a:moveTo>
                  <a:lnTo>
                    <a:pt x="21600" y="21600"/>
                  </a:lnTo>
                  <a:lnTo>
                    <a:pt x="0" y="16195"/>
                  </a:lnTo>
                  <a:lnTo>
                    <a:pt x="0" y="0"/>
                  </a:lnTo>
                  <a:lnTo>
                    <a:pt x="21446" y="5347"/>
                  </a:lnTo>
                  <a:lnTo>
                    <a:pt x="21600" y="5347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18" name="Freeform 10"/>
            <p:cNvSpPr/>
            <p:nvPr>
              <p:custDataLst>
                <p:tags r:id="rId3"/>
              </p:custDataLst>
            </p:nvPr>
          </p:nvSpPr>
          <p:spPr>
            <a:xfrm>
              <a:off x="10311" y="4982"/>
              <a:ext cx="592" cy="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7"/>
                  </a:moveTo>
                  <a:lnTo>
                    <a:pt x="21600" y="21600"/>
                  </a:lnTo>
                  <a:lnTo>
                    <a:pt x="0" y="16195"/>
                  </a:lnTo>
                  <a:lnTo>
                    <a:pt x="0" y="0"/>
                  </a:lnTo>
                  <a:lnTo>
                    <a:pt x="21369" y="5347"/>
                  </a:lnTo>
                  <a:lnTo>
                    <a:pt x="21600" y="5347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19" name="Freeform 12"/>
            <p:cNvSpPr/>
            <p:nvPr>
              <p:custDataLst>
                <p:tags r:id="rId4"/>
              </p:custDataLst>
            </p:nvPr>
          </p:nvSpPr>
          <p:spPr>
            <a:xfrm>
              <a:off x="8504" y="4982"/>
              <a:ext cx="590" cy="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7"/>
                  </a:moveTo>
                  <a:lnTo>
                    <a:pt x="21600" y="21600"/>
                  </a:lnTo>
                  <a:lnTo>
                    <a:pt x="0" y="16195"/>
                  </a:lnTo>
                  <a:lnTo>
                    <a:pt x="0" y="0"/>
                  </a:lnTo>
                  <a:lnTo>
                    <a:pt x="21446" y="5347"/>
                  </a:lnTo>
                  <a:lnTo>
                    <a:pt x="21600" y="5347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20" name="Freeform 14"/>
            <p:cNvSpPr/>
            <p:nvPr>
              <p:custDataLst>
                <p:tags r:id="rId5"/>
              </p:custDataLst>
            </p:nvPr>
          </p:nvSpPr>
          <p:spPr>
            <a:xfrm>
              <a:off x="6698" y="4982"/>
              <a:ext cx="590" cy="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7"/>
                  </a:moveTo>
                  <a:lnTo>
                    <a:pt x="21600" y="21600"/>
                  </a:lnTo>
                  <a:lnTo>
                    <a:pt x="0" y="16195"/>
                  </a:lnTo>
                  <a:lnTo>
                    <a:pt x="0" y="0"/>
                  </a:lnTo>
                  <a:lnTo>
                    <a:pt x="21446" y="5347"/>
                  </a:lnTo>
                  <a:lnTo>
                    <a:pt x="21600" y="5347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21" name="Freeform 16"/>
            <p:cNvSpPr/>
            <p:nvPr>
              <p:custDataLst>
                <p:tags r:id="rId6"/>
              </p:custDataLst>
            </p:nvPr>
          </p:nvSpPr>
          <p:spPr>
            <a:xfrm>
              <a:off x="4892" y="4982"/>
              <a:ext cx="590" cy="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7"/>
                  </a:moveTo>
                  <a:lnTo>
                    <a:pt x="21600" y="21600"/>
                  </a:lnTo>
                  <a:lnTo>
                    <a:pt x="0" y="16195"/>
                  </a:lnTo>
                  <a:lnTo>
                    <a:pt x="0" y="0"/>
                  </a:lnTo>
                  <a:lnTo>
                    <a:pt x="21446" y="5347"/>
                  </a:lnTo>
                  <a:lnTo>
                    <a:pt x="21600" y="5347"/>
                  </a:lnTo>
                  <a:close/>
                </a:path>
              </a:pathLst>
            </a:custGeom>
            <a:solidFill>
              <a:srgbClr val="D9D9D9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22" name="Freeform 17"/>
            <p:cNvSpPr/>
            <p:nvPr>
              <p:custDataLst>
                <p:tags r:id="rId7"/>
              </p:custDataLst>
            </p:nvPr>
          </p:nvSpPr>
          <p:spPr>
            <a:xfrm>
              <a:off x="14516" y="5189"/>
              <a:ext cx="1301" cy="12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52" y="21600"/>
                  </a:moveTo>
                  <a:lnTo>
                    <a:pt x="7352" y="18242"/>
                  </a:lnTo>
                  <a:lnTo>
                    <a:pt x="0" y="18242"/>
                  </a:lnTo>
                  <a:lnTo>
                    <a:pt x="0" y="3384"/>
                  </a:lnTo>
                  <a:lnTo>
                    <a:pt x="7352" y="3384"/>
                  </a:lnTo>
                  <a:lnTo>
                    <a:pt x="7352" y="0"/>
                  </a:lnTo>
                  <a:lnTo>
                    <a:pt x="21600" y="10787"/>
                  </a:lnTo>
                  <a:lnTo>
                    <a:pt x="7352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>
                <a:solidFill>
                  <a:srgbClr val="2B4D89"/>
                </a:solidFill>
                <a:latin typeface="+mn-ea"/>
              </a:endParaRPr>
            </a:p>
          </p:txBody>
        </p:sp>
        <p:grpSp>
          <p:nvGrpSpPr>
            <p:cNvPr id="425" name="组合 35"/>
            <p:cNvGrpSpPr/>
            <p:nvPr/>
          </p:nvGrpSpPr>
          <p:grpSpPr>
            <a:xfrm>
              <a:off x="3542" y="4982"/>
              <a:ext cx="1511" cy="1595"/>
              <a:chOff x="0" y="-1"/>
              <a:chExt cx="959665" cy="1012527"/>
            </a:xfrm>
          </p:grpSpPr>
          <p:sp>
            <p:nvSpPr>
              <p:cNvPr id="423" name="Freeform 15"/>
              <p:cNvSpPr/>
              <p:nvPr>
                <p:custDataLst>
                  <p:tags r:id="rId8"/>
                </p:custDataLst>
              </p:nvPr>
            </p:nvSpPr>
            <p:spPr>
              <a:xfrm>
                <a:off x="84525" y="-1"/>
                <a:ext cx="772283" cy="1012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10781" y="16214"/>
                    </a:lnTo>
                    <a:lnTo>
                      <a:pt x="0" y="21581"/>
                    </a:ln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24" name="Text Placeholder 5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0" y="261404"/>
                <a:ext cx="959665" cy="397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  <a:latin typeface="+mn-ea"/>
                    <a:ea typeface="+mn-ea"/>
                  </a:rPr>
                  <a:t>2017</a:t>
                </a:r>
                <a:endParaRPr lang="en-US" altLang="zh-CN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28" name="组合 36"/>
            <p:cNvGrpSpPr/>
            <p:nvPr/>
          </p:nvGrpSpPr>
          <p:grpSpPr>
            <a:xfrm>
              <a:off x="5349" y="4982"/>
              <a:ext cx="1511" cy="1600"/>
              <a:chOff x="0" y="0"/>
              <a:chExt cx="959665" cy="1016144"/>
            </a:xfrm>
          </p:grpSpPr>
          <p:sp>
            <p:nvSpPr>
              <p:cNvPr id="426" name="Rectangle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525" y="0"/>
                <a:ext cx="772282" cy="10161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27" name="Text Placeholder 5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0" y="261381"/>
                <a:ext cx="959665" cy="3975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+mn-ea"/>
                    <a:ea typeface="+mn-ea"/>
                  </a:rPr>
                  <a:t>2019</a:t>
                </a:r>
                <a:endParaRPr lang="en-US" altLang="zh-CN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31" name="组合 37"/>
            <p:cNvGrpSpPr/>
            <p:nvPr/>
          </p:nvGrpSpPr>
          <p:grpSpPr>
            <a:xfrm>
              <a:off x="7155" y="4982"/>
              <a:ext cx="1511" cy="1600"/>
              <a:chOff x="0" y="0"/>
              <a:chExt cx="959665" cy="1016144"/>
            </a:xfrm>
          </p:grpSpPr>
          <p:sp>
            <p:nvSpPr>
              <p:cNvPr id="429" name="Rectangle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525" y="0"/>
                <a:ext cx="772282" cy="10161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30" name="Text Placeholder 5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0" y="261381"/>
                <a:ext cx="959665" cy="3975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+mn-ea"/>
                    <a:ea typeface="+mn-ea"/>
                  </a:rPr>
                  <a:t>2022</a:t>
                </a:r>
                <a:endParaRPr lang="en-US" altLang="zh-CN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34" name="组合 38"/>
            <p:cNvGrpSpPr/>
            <p:nvPr/>
          </p:nvGrpSpPr>
          <p:grpSpPr>
            <a:xfrm>
              <a:off x="8962" y="4982"/>
              <a:ext cx="1511" cy="1600"/>
              <a:chOff x="0" y="0"/>
              <a:chExt cx="959665" cy="1016144"/>
            </a:xfrm>
          </p:grpSpPr>
          <p:sp>
            <p:nvSpPr>
              <p:cNvPr id="432" name="Rectangle 9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525" y="0"/>
                <a:ext cx="772282" cy="10161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33" name="Text Placeholder 5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0" y="261381"/>
                <a:ext cx="959665" cy="3975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+mn-ea"/>
                    <a:ea typeface="+mn-ea"/>
                  </a:rPr>
                  <a:t>2023</a:t>
                </a:r>
                <a:endParaRPr lang="en-US" altLang="zh-CN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37" name="组合 39"/>
            <p:cNvGrpSpPr/>
            <p:nvPr/>
          </p:nvGrpSpPr>
          <p:grpSpPr>
            <a:xfrm>
              <a:off x="10764" y="4982"/>
              <a:ext cx="1511" cy="1600"/>
              <a:chOff x="0" y="0"/>
              <a:chExt cx="959665" cy="1016144"/>
            </a:xfrm>
          </p:grpSpPr>
          <p:sp>
            <p:nvSpPr>
              <p:cNvPr id="435" name="Rectangle 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8385" y="0"/>
                <a:ext cx="770944" cy="10161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36" name="Text Placeholder 5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0" y="261381"/>
                <a:ext cx="959665" cy="3975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+mn-ea"/>
                    <a:ea typeface="+mn-ea"/>
                  </a:rPr>
                  <a:t>2024</a:t>
                </a:r>
                <a:endParaRPr lang="en-US" altLang="zh-CN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40" name="组合 40"/>
            <p:cNvGrpSpPr/>
            <p:nvPr/>
          </p:nvGrpSpPr>
          <p:grpSpPr>
            <a:xfrm>
              <a:off x="12576" y="4982"/>
              <a:ext cx="1511" cy="1600"/>
              <a:chOff x="0" y="0"/>
              <a:chExt cx="959665" cy="1016144"/>
            </a:xfrm>
          </p:grpSpPr>
          <p:sp>
            <p:nvSpPr>
              <p:cNvPr id="438" name="Rectangle 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525" y="0"/>
                <a:ext cx="772282" cy="10161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endParaRPr>
                  <a:solidFill>
                    <a:srgbClr val="2B4D89"/>
                  </a:solidFill>
                  <a:latin typeface="+mn-ea"/>
                </a:endParaRPr>
              </a:p>
            </p:txBody>
          </p:sp>
          <p:sp>
            <p:nvSpPr>
              <p:cNvPr id="439" name="Text Placeholder 59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0" y="261384"/>
                <a:ext cx="959665" cy="3975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spcBef>
                    <a:spcPts val="400"/>
                  </a:spcBef>
                  <a:defRPr sz="20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+mn-ea"/>
                    <a:ea typeface="+mn-ea"/>
                  </a:rPr>
                  <a:t>2025</a:t>
                </a:r>
                <a:endParaRPr lang="en-US" altLang="zh-CN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41" name="Text Placeholder 59"/>
            <p:cNvSpPr txBox="1"/>
            <p:nvPr>
              <p:custDataLst>
                <p:tags r:id="rId20"/>
              </p:custDataLst>
            </p:nvPr>
          </p:nvSpPr>
          <p:spPr>
            <a:xfrm>
              <a:off x="5482" y="6977"/>
              <a:ext cx="3023" cy="434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/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>
                  <a:solidFill>
                    <a:srgbClr val="2B4D89"/>
                  </a:solidFill>
                  <a:latin typeface="+mn-ea"/>
                </a:rPr>
                <a:t>初步实践分布式</a:t>
              </a:r>
              <a:endParaRPr lang="zh-CN" altLang="en-US"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2" name="Straight Connector 54"/>
            <p:cNvSpPr/>
            <p:nvPr>
              <p:custDataLst>
                <p:tags r:id="rId21"/>
              </p:custDataLst>
            </p:nvPr>
          </p:nvSpPr>
          <p:spPr>
            <a:xfrm flipH="1">
              <a:off x="5482" y="6582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lstStyle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3" name="Text Placeholder 59"/>
            <p:cNvSpPr txBox="1"/>
            <p:nvPr>
              <p:custDataLst>
                <p:tags r:id="rId22"/>
              </p:custDataLst>
            </p:nvPr>
          </p:nvSpPr>
          <p:spPr>
            <a:xfrm>
              <a:off x="9094" y="6977"/>
              <a:ext cx="3023" cy="434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/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 dirty="0">
                  <a:solidFill>
                    <a:srgbClr val="2B4D89"/>
                  </a:solidFill>
                  <a:latin typeface="+mn-ea"/>
                  <a:sym typeface="+mn-ea"/>
                </a:rPr>
                <a:t>全面</a:t>
              </a:r>
              <a:r>
                <a:rPr lang="en-US" altLang="zh-CN" dirty="0">
                  <a:solidFill>
                    <a:srgbClr val="2B4D89"/>
                  </a:solidFill>
                  <a:latin typeface="+mn-ea"/>
                  <a:sym typeface="+mn-ea"/>
                </a:rPr>
                <a:t>K8S</a:t>
              </a:r>
              <a:r>
                <a:rPr lang="zh-CN" altLang="en-US" dirty="0">
                  <a:solidFill>
                    <a:srgbClr val="2B4D89"/>
                  </a:solidFill>
                  <a:latin typeface="+mn-ea"/>
                  <a:sym typeface="+mn-ea"/>
                </a:rPr>
                <a:t>容器化</a:t>
              </a:r>
              <a:endParaRPr lang="zh-CN" altLang="en-US" dirty="0"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4" name="Straight Connector 56"/>
            <p:cNvSpPr/>
            <p:nvPr>
              <p:custDataLst>
                <p:tags r:id="rId23"/>
              </p:custDataLst>
            </p:nvPr>
          </p:nvSpPr>
          <p:spPr>
            <a:xfrm>
              <a:off x="9094" y="6574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lstStyle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5" name="Text Placeholder 59"/>
            <p:cNvSpPr txBox="1"/>
            <p:nvPr>
              <p:custDataLst>
                <p:tags r:id="rId24"/>
              </p:custDataLst>
            </p:nvPr>
          </p:nvSpPr>
          <p:spPr>
            <a:xfrm>
              <a:off x="12710" y="6977"/>
              <a:ext cx="3023" cy="434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/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>
                  <a:solidFill>
                    <a:srgbClr val="2B4D89"/>
                  </a:solidFill>
                  <a:latin typeface="+mn-ea"/>
                </a:rPr>
                <a:t>微服务拆分重构</a:t>
              </a:r>
              <a:endParaRPr lang="zh-CN" altLang="en-US">
                <a:solidFill>
                  <a:srgbClr val="2B4D89"/>
                </a:solidFill>
                <a:latin typeface="+mn-ea"/>
                <a:sym typeface="+mn-ea"/>
              </a:endParaRPr>
            </a:p>
          </p:txBody>
        </p:sp>
        <p:sp>
          <p:nvSpPr>
            <p:cNvPr id="446" name="Straight Connector 58"/>
            <p:cNvSpPr/>
            <p:nvPr>
              <p:custDataLst>
                <p:tags r:id="rId25"/>
              </p:custDataLst>
            </p:nvPr>
          </p:nvSpPr>
          <p:spPr>
            <a:xfrm>
              <a:off x="12710" y="6574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lstStyle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8" name="Text Placeholder 59"/>
            <p:cNvSpPr txBox="1"/>
            <p:nvPr>
              <p:custDataLst>
                <p:tags r:id="rId26"/>
              </p:custDataLst>
            </p:nvPr>
          </p:nvSpPr>
          <p:spPr>
            <a:xfrm>
              <a:off x="7299" y="4161"/>
              <a:ext cx="3185" cy="434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>
                  <a:solidFill>
                    <a:srgbClr val="2B4D89"/>
                  </a:solidFill>
                  <a:latin typeface="+mn-ea"/>
                </a:rPr>
                <a:t>实践</a:t>
              </a:r>
              <a:r>
                <a:rPr lang="en-US" altLang="zh-CN">
                  <a:solidFill>
                    <a:srgbClr val="2B4D89"/>
                  </a:solidFill>
                  <a:latin typeface="+mn-ea"/>
                </a:rPr>
                <a:t>SpringCloud</a:t>
              </a:r>
              <a:r>
                <a:rPr lang="zh-CN" altLang="en-US">
                  <a:solidFill>
                    <a:srgbClr val="2B4D89"/>
                  </a:solidFill>
                  <a:latin typeface="+mn-ea"/>
                </a:rPr>
                <a:t>框架</a:t>
              </a:r>
              <a:endParaRPr lang="zh-CN" altLang="en-US"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49" name="Text Placeholder 59"/>
            <p:cNvSpPr txBox="1"/>
            <p:nvPr>
              <p:custDataLst>
                <p:tags r:id="rId27"/>
              </p:custDataLst>
            </p:nvPr>
          </p:nvSpPr>
          <p:spPr>
            <a:xfrm>
              <a:off x="10908" y="4161"/>
              <a:ext cx="3023" cy="434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/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 dirty="0">
                  <a:solidFill>
                    <a:srgbClr val="2B4D89"/>
                  </a:solidFill>
                  <a:latin typeface="+mn-ea"/>
                  <a:sym typeface="+mn-ea"/>
                </a:rPr>
                <a:t>业务监控、流水线</a:t>
              </a:r>
              <a:endParaRPr lang="zh-CN" altLang="en-US" dirty="0">
                <a:solidFill>
                  <a:srgbClr val="2B4D89"/>
                </a:solidFill>
                <a:latin typeface="+mn-ea"/>
                <a:sym typeface="+mn-ea"/>
              </a:endParaRPr>
            </a:p>
          </p:txBody>
        </p:sp>
        <p:sp>
          <p:nvSpPr>
            <p:cNvPr id="451" name="Straight Connector 63"/>
            <p:cNvSpPr/>
            <p:nvPr>
              <p:custDataLst>
                <p:tags r:id="rId28"/>
              </p:custDataLst>
            </p:nvPr>
          </p:nvSpPr>
          <p:spPr>
            <a:xfrm flipH="1">
              <a:off x="7299" y="4161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lstStyle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452" name="Straight Connector 64"/>
            <p:cNvSpPr/>
            <p:nvPr>
              <p:custDataLst>
                <p:tags r:id="rId29"/>
              </p:custDataLst>
            </p:nvPr>
          </p:nvSpPr>
          <p:spPr>
            <a:xfrm>
              <a:off x="10908" y="4161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lstStyle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6" name="Text Placeholder 59"/>
            <p:cNvSpPr txBox="1"/>
            <p:nvPr>
              <p:custDataLst>
                <p:tags r:id="rId30"/>
              </p:custDataLst>
            </p:nvPr>
          </p:nvSpPr>
          <p:spPr>
            <a:xfrm>
              <a:off x="3676" y="4161"/>
              <a:ext cx="3185" cy="434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p>
              <a:pPr>
                <a:spcBef>
                  <a:spcPts val="200"/>
                </a:spcBef>
                <a:defRPr sz="12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r>
                <a:rPr lang="zh-CN" altLang="en-US">
                  <a:solidFill>
                    <a:srgbClr val="2B4D89"/>
                  </a:solidFill>
                  <a:latin typeface="+mn-ea"/>
                </a:rPr>
                <a:t>单体系统</a:t>
              </a:r>
              <a:endParaRPr lang="zh-CN" altLang="en-US">
                <a:solidFill>
                  <a:srgbClr val="2B4D89"/>
                </a:solidFill>
                <a:latin typeface="+mn-ea"/>
              </a:endParaRPr>
            </a:p>
          </p:txBody>
        </p:sp>
        <p:sp>
          <p:nvSpPr>
            <p:cNvPr id="7" name="Straight Connector 63"/>
            <p:cNvSpPr/>
            <p:nvPr>
              <p:custDataLst>
                <p:tags r:id="rId31"/>
              </p:custDataLst>
            </p:nvPr>
          </p:nvSpPr>
          <p:spPr>
            <a:xfrm flipH="1">
              <a:off x="3676" y="4132"/>
              <a:ext cx="0" cy="85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txBody>
            <a:bodyPr lIns="45719" rIns="45719"/>
            <a:p>
              <a:endParaRPr>
                <a:solidFill>
                  <a:srgbClr val="2B4D89"/>
                </a:solidFill>
                <a:latin typeface="+mn-ea"/>
              </a:endParaRPr>
            </a:p>
          </p:txBody>
        </p:sp>
      </p:grpSp>
      <p:sp>
        <p:nvSpPr>
          <p:cNvPr id="453" name="Title 1"/>
          <p:cNvSpPr txBox="1"/>
          <p:nvPr>
            <p:custDataLst>
              <p:tags r:id="rId32"/>
            </p:custDataLst>
          </p:nvPr>
        </p:nvSpPr>
        <p:spPr>
          <a:xfrm>
            <a:off x="799465" y="113284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rgbClr val="2B4D89"/>
                </a:solidFill>
                <a:latin typeface="+mn-ea"/>
                <a:ea typeface="+mn-ea"/>
              </a:rPr>
              <a:t>祥云平台技术时间线</a:t>
            </a:r>
            <a:endParaRPr lang="zh-CN" dirty="0">
              <a:solidFill>
                <a:srgbClr val="2B4D89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02665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2017-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单体祥云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35650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903095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为何初期采用单体？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87550" y="2461260"/>
            <a:ext cx="82270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祥云初期：设备接入量少、接入方式也相对单一。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团队易组：单体应用开发是开发人员的基本技能。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开发效率：单一代码库、框架易上手、本地调试简单等，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部署运维：很简单，无需专业运维团队。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2470" y="4601845"/>
            <a:ext cx="82270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很好的保证了祥云的快速上线！</a:t>
            </a:r>
            <a:endParaRPr lang="zh-CN" altLang="en-US" sz="20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2019-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初步实践分布式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35650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893570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单体祥云的几个痛点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2470" y="4601845"/>
            <a:ext cx="82270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祥云开始初步的微服务实践 </a:t>
            </a:r>
            <a:r>
              <a:rPr lang="en-US" altLang="zh-CN" sz="2000" dirty="0">
                <a:solidFill>
                  <a:srgbClr val="C00000"/>
                </a:solidFill>
                <a:sym typeface="+mn-ea"/>
              </a:rPr>
              <a:t>→</a:t>
            </a:r>
            <a:endParaRPr lang="en-US" altLang="zh-CN" sz="2000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550" y="2482850"/>
            <a:ext cx="82270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部署耦合：只能整体部署，满足不了对采集链路的稳定性要求。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集群扩展：功能混在一起、集群化改造很复杂很难，一直都是单实例在运行。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性能瓶颈：普通配置的单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ECS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服务器、无法满足更多的设备接入。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代码臃肿：代码不断增加，调试启动变得很慢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、代码合并冲突也越来越多。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2019-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初步实践分布式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35650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893570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较为【初级】的分布式理解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550" y="2482850"/>
            <a:ext cx="82270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选用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Dubbo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作为服务治理框架，注册中心选用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Zookeeper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配置中心：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spring-cloud-config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服务拆分：部分业务代码封装在lib包、多服务同时使用。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服务隔离：共享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DB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，个别表会被多个服务直接访问。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集群支持：集群意识浅薄、主要是做分布式拆分。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代码仓库：在同一个项目仓库下、每个服务是一个模块。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可观测性：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ELK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27736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2022-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实践</a:t>
            </a:r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SpringCloud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治理框架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35650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893570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大客户私有化部署祥云。按客户的技术栈要求，祥云需提供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SpringCloud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框架版本。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550" y="2482850"/>
            <a:ext cx="82270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治理框架：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SpringCloud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框架、注册中心用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Eureka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配置中心：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Apollo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服务调用：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OpenFeign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微服务网关：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Zuul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文件存储：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MinIO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部署方式：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容器化部署。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7550" y="4961890"/>
            <a:ext cx="82270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借此机会，初步接触实践了</a:t>
            </a:r>
            <a:r>
              <a:rPr lang="en-US" altLang="zh-CN" sz="20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！</a:t>
            </a:r>
            <a:endParaRPr lang="zh-CN" altLang="en-US" sz="20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27736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2023-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全面切换</a:t>
            </a:r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K8S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容器化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561465"/>
            <a:ext cx="8651875" cy="1640205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491253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09410" y="2991921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2232660"/>
            <a:ext cx="82270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实现了比传统 ECS 更高阶的自动化运维、资源利用率和环境一致性，成为微服务场景的事实部署标准。是支撑微服务落地的核心设施，解决“如何运行和管理”的问题。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2470" y="1697355"/>
            <a:ext cx="822706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800" dirty="0">
                <a:solidFill>
                  <a:srgbClr val="2B4D89"/>
                </a:solidFill>
                <a:sym typeface="+mn-ea"/>
              </a:rPr>
              <a:t>K8S - </a:t>
            </a:r>
            <a:r>
              <a:rPr lang="zh-CN" altLang="en-US" sz="1800" dirty="0">
                <a:solidFill>
                  <a:srgbClr val="2B4D89"/>
                </a:solidFill>
                <a:sym typeface="+mn-ea"/>
              </a:rPr>
              <a:t>微服务部署基础设施</a:t>
            </a:r>
            <a:endParaRPr lang="zh-CN" altLang="en-US" sz="18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8" name="圆角矩形 26"/>
          <p:cNvSpPr/>
          <p:nvPr>
            <p:custDataLst>
              <p:tags r:id="rId5"/>
            </p:custDataLst>
          </p:nvPr>
        </p:nvSpPr>
        <p:spPr>
          <a:xfrm>
            <a:off x="1769745" y="3457575"/>
            <a:ext cx="8651875" cy="273558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矩形 93"/>
          <p:cNvSpPr/>
          <p:nvPr>
            <p:custDataLst>
              <p:tags r:id="rId6"/>
            </p:custDataLst>
          </p:nvPr>
        </p:nvSpPr>
        <p:spPr>
          <a:xfrm>
            <a:off x="1698386" y="3387363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矩形 93"/>
          <p:cNvSpPr/>
          <p:nvPr>
            <p:custDataLst>
              <p:tags r:id="rId7"/>
            </p:custDataLst>
          </p:nvPr>
        </p:nvSpPr>
        <p:spPr>
          <a:xfrm rot="10800000">
            <a:off x="10218300" y="598975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文本框 11"/>
          <p:cNvSpPr txBox="1"/>
          <p:nvPr/>
        </p:nvSpPr>
        <p:spPr>
          <a:xfrm>
            <a:off x="1981835" y="3592830"/>
            <a:ext cx="822706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800" dirty="0">
                <a:solidFill>
                  <a:srgbClr val="2B4D89"/>
                </a:solidFill>
                <a:sym typeface="+mn-ea"/>
              </a:rPr>
              <a:t>祥云的</a:t>
            </a:r>
            <a:r>
              <a:rPr lang="en-US" altLang="zh-CN" sz="18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800" dirty="0">
                <a:solidFill>
                  <a:srgbClr val="2B4D89"/>
                </a:solidFill>
                <a:sym typeface="+mn-ea"/>
              </a:rPr>
              <a:t>实践</a:t>
            </a:r>
            <a:endParaRPr lang="zh-CN" altLang="en-US" sz="18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91360" y="4128135"/>
            <a:ext cx="82270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运维团队：招聘技术人才、组建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运维团队。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风险转移：生产环境用阿里云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ACK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、测试环境完全自建。避免技术盲区造成生产事故。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业务集群：业务服务的集群化适配改造、多副本运行。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资源监控：服务器、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、基础中间件等的指标监控。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2024-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可观测性、流水线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232679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561465"/>
            <a:ext cx="8651875" cy="22618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491253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361104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703070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祥云的可观测性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550" y="2163445"/>
            <a:ext cx="82270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日志中心：从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ELK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切换成云原生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Loki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监控告警：基于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Prometheus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生态搭建的监控告警中心。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业务监控：基于MicroMetric的业务指标埋点，实现业务级的监控告警。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链路追踪：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skywalking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4" name="AutoShape 149"/>
          <p:cNvSpPr/>
          <p:nvPr/>
        </p:nvSpPr>
        <p:spPr bwMode="auto">
          <a:xfrm>
            <a:off x="5855335" y="469076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5" name="圆角矩形 26"/>
          <p:cNvSpPr/>
          <p:nvPr>
            <p:custDataLst>
              <p:tags r:id="rId5"/>
            </p:custDataLst>
          </p:nvPr>
        </p:nvSpPr>
        <p:spPr>
          <a:xfrm>
            <a:off x="1769745" y="4019550"/>
            <a:ext cx="8651875" cy="212852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矩形 93"/>
          <p:cNvSpPr/>
          <p:nvPr>
            <p:custDataLst>
              <p:tags r:id="rId6"/>
            </p:custDataLst>
          </p:nvPr>
        </p:nvSpPr>
        <p:spPr>
          <a:xfrm>
            <a:off x="1698386" y="394933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矩形 93"/>
          <p:cNvSpPr/>
          <p:nvPr>
            <p:custDataLst>
              <p:tags r:id="rId7"/>
            </p:custDataLst>
          </p:nvPr>
        </p:nvSpPr>
        <p:spPr>
          <a:xfrm rot="10800000">
            <a:off x="10208775" y="5935781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文本框 8"/>
          <p:cNvSpPr txBox="1"/>
          <p:nvPr/>
        </p:nvSpPr>
        <p:spPr>
          <a:xfrm>
            <a:off x="1981835" y="4161155"/>
            <a:ext cx="8227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sz="1600" dirty="0">
                <a:solidFill>
                  <a:srgbClr val="2B4D89"/>
                </a:solidFill>
                <a:sym typeface="+mn-ea"/>
              </a:rPr>
              <a:t>DevOps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流水线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86915" y="4621530"/>
            <a:ext cx="82270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经验积累：基于阿里云效的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CI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、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快速落地，积累流水线实践经验。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自建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CI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gitlib-ci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代替阿里云效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CI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自建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argo-cd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、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workflows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代替阿里云效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2025-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祥云微服务拆分重构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855970" y="235650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982470" y="1893570"/>
            <a:ext cx="822706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800" dirty="0">
                <a:solidFill>
                  <a:srgbClr val="2B4D89"/>
                </a:solidFill>
                <a:sym typeface="+mn-ea"/>
              </a:rPr>
              <a:t>基于【更深刻】理解进行拆分重构</a:t>
            </a:r>
            <a:endParaRPr lang="zh-CN" altLang="en-US" sz="18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550" y="2473325"/>
            <a:ext cx="82270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治理框架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：去dubbo化、为未来迈向服务网格做铺垫。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服务拆分：采用DDD作为拆分设计指导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；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避免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出现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lib包封装业务。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资源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隔离：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各服务间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资源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访问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隔离、只通过接口共享数据。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集群意识：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服务的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无状态设计、集群是基本要求。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代码仓库：每服务单独仓库、开发人员按需分配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权限。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 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有序重构：共分四个阶段、确保重构的有序推进。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9"/>
          <p:cNvSpPr/>
          <p:nvPr/>
        </p:nvSpPr>
        <p:spPr bwMode="auto">
          <a:xfrm>
            <a:off x="5944235" y="277687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grpSp>
        <p:nvGrpSpPr>
          <p:cNvPr id="348" name="组合 41"/>
          <p:cNvGrpSpPr/>
          <p:nvPr/>
        </p:nvGrpSpPr>
        <p:grpSpPr>
          <a:xfrm>
            <a:off x="1524600" y="2509079"/>
            <a:ext cx="9144000" cy="1814780"/>
            <a:chOff x="0" y="0"/>
            <a:chExt cx="9144000" cy="1814778"/>
          </a:xfrm>
        </p:grpSpPr>
        <p:sp>
          <p:nvSpPr>
            <p:cNvPr id="343" name="等腰三角形 43"/>
            <p:cNvSpPr/>
            <p:nvPr>
              <p:custDataLst>
                <p:tags r:id="rId1"/>
              </p:custDataLst>
            </p:nvPr>
          </p:nvSpPr>
          <p:spPr>
            <a:xfrm>
              <a:off x="2469920" y="0"/>
              <a:ext cx="825386" cy="828242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等腰三角形 44"/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68682" y="986535"/>
              <a:ext cx="825385" cy="828243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矩形 45"/>
            <p:cNvSpPr/>
            <p:nvPr>
              <p:custDataLst>
                <p:tags r:id="rId3"/>
              </p:custDataLst>
            </p:nvPr>
          </p:nvSpPr>
          <p:spPr>
            <a:xfrm>
              <a:off x="0" y="194648"/>
              <a:ext cx="9144000" cy="142173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6" name="平行四边形 46"/>
            <p:cNvSpPr/>
            <p:nvPr>
              <p:custDataLst>
                <p:tags r:id="rId4"/>
              </p:custDataLst>
            </p:nvPr>
          </p:nvSpPr>
          <p:spPr>
            <a:xfrm>
              <a:off x="479202" y="638"/>
              <a:ext cx="2406979" cy="1809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829" y="0"/>
                  </a:lnTo>
                  <a:lnTo>
                    <a:pt x="21600" y="0"/>
                  </a:lnTo>
                  <a:lnTo>
                    <a:pt x="1377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115615" y="246711"/>
              <a:ext cx="1322150" cy="12992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sz="8000">
                  <a:solidFill>
                    <a:srgbClr val="F2F2F2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</a:t>
              </a:r>
              <a:r>
                <a:rPr lang="en-US"/>
                <a:t>2</a:t>
              </a:r>
              <a:endParaRPr lang="en-US"/>
            </a:p>
          </p:txBody>
        </p:sp>
      </p:grpSp>
      <p:sp>
        <p:nvSpPr>
          <p:cNvPr id="349" name="TextBox 48"/>
          <p:cNvSpPr txBox="1"/>
          <p:nvPr>
            <p:custDataLst>
              <p:tags r:id="rId6"/>
            </p:custDataLst>
          </p:nvPr>
        </p:nvSpPr>
        <p:spPr>
          <a:xfrm>
            <a:off x="4507865" y="3094355"/>
            <a:ext cx="5495925" cy="622300"/>
          </a:xfrm>
          <a:prstGeom prst="rect">
            <a:avLst/>
          </a:prstGeom>
          <a:ln w="12700">
            <a:miter lim="400000"/>
          </a:ln>
        </p:spPr>
        <p:txBody>
          <a:bodyPr wrap="square" lIns="34290" tIns="34290" rIns="34290" bIns="34290">
            <a:spAutoFit/>
          </a:bodyPr>
          <a:lstStyle>
            <a:lvl1pPr>
              <a:defRPr sz="3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chemeClr val="bg1"/>
                </a:solidFill>
              </a:rPr>
              <a:t>祥云平台技术架构</a:t>
            </a:r>
            <a:endParaRPr 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843874" y="101619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rgbClr val="2B4D89"/>
                </a:solidFill>
              </a:rPr>
              <a:t>微服务架构必知</a:t>
            </a:r>
            <a:endParaRPr lang="zh-CN" dirty="0">
              <a:solidFill>
                <a:srgbClr val="2B4D89"/>
              </a:solidFill>
            </a:endParaRPr>
          </a:p>
        </p:txBody>
      </p:sp>
      <p:pic>
        <p:nvPicPr>
          <p:cNvPr id="5" name="图片 4" descr="微服开发必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5" y="1475105"/>
            <a:ext cx="8286750" cy="47948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06560" y="2372360"/>
            <a:ext cx="1954530" cy="29997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服务治理框架</a:t>
            </a:r>
            <a:endParaRPr lang="zh-CN" altLang="en-US" sz="1400"/>
          </a:p>
          <a:p>
            <a:pPr algn="l" fontAlgn="auto">
              <a:lnSpc>
                <a:spcPct val="150000"/>
              </a:lnSpc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400"/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配置外部化</a:t>
            </a:r>
            <a:endParaRPr lang="zh-CN" altLang="en-US" sz="1400"/>
          </a:p>
          <a:p>
            <a:pPr algn="l" fontAlgn="auto">
              <a:lnSpc>
                <a:spcPct val="150000"/>
              </a:lnSpc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400"/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服务发现与负载均衡</a:t>
            </a:r>
            <a:endParaRPr lang="zh-CN" altLang="en-US" sz="1400"/>
          </a:p>
          <a:p>
            <a:pPr algn="l" fontAlgn="auto">
              <a:lnSpc>
                <a:spcPct val="150000"/>
              </a:lnSpc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400"/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入口网关</a:t>
            </a:r>
            <a:endParaRPr lang="zh-CN" altLang="en-US" sz="1400"/>
          </a:p>
          <a:p>
            <a:pPr algn="l" fontAlgn="auto">
              <a:lnSpc>
                <a:spcPct val="150000"/>
              </a:lnSpc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400"/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运行监测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843874" y="1016190"/>
            <a:ext cx="2735580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rgbClr val="2B4D89"/>
                </a:solidFill>
              </a:rPr>
              <a:t>微服务</a:t>
            </a:r>
            <a:r>
              <a:rPr lang="en-US" altLang="zh-CN" dirty="0">
                <a:solidFill>
                  <a:srgbClr val="2B4D89"/>
                </a:solidFill>
              </a:rPr>
              <a:t>1.0</a:t>
            </a:r>
            <a:r>
              <a:rPr lang="zh-CN" altLang="en-US" dirty="0">
                <a:solidFill>
                  <a:srgbClr val="2B4D89"/>
                </a:solidFill>
              </a:rPr>
              <a:t>应用的典型架构</a:t>
            </a:r>
            <a:endParaRPr lang="zh-CN" altLang="en-US" dirty="0">
              <a:solidFill>
                <a:srgbClr val="2B4D89"/>
              </a:solidFill>
            </a:endParaRPr>
          </a:p>
        </p:txBody>
      </p:sp>
      <p:pic>
        <p:nvPicPr>
          <p:cNvPr id="5" name="图片 4" descr="微服务1.0典型架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0" y="1398270"/>
            <a:ext cx="9527540" cy="46640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32230" y="5986145"/>
            <a:ext cx="4213860" cy="414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代码开发只需重点关注【</a:t>
            </a:r>
            <a:r>
              <a:rPr lang="en-US" altLang="zh-CN" sz="1400"/>
              <a:t>SpringBoot</a:t>
            </a:r>
            <a:r>
              <a:rPr lang="zh-CN" altLang="en-US" sz="1400"/>
              <a:t>业务服务】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1"/>
          <p:cNvSpPr txBox="1"/>
          <p:nvPr>
            <p:custDataLst>
              <p:tags r:id="rId1"/>
            </p:custDataLst>
          </p:nvPr>
        </p:nvSpPr>
        <p:spPr>
          <a:xfrm>
            <a:off x="655780" y="1033889"/>
            <a:ext cx="304101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</a:rPr>
              <a:t>祥云平台架构技术栈</a:t>
            </a:r>
            <a:endParaRPr lang="zh-CN" altLang="en-US" dirty="0">
              <a:solidFill>
                <a:srgbClr val="2B4D89"/>
              </a:solidFill>
            </a:endParaRPr>
          </a:p>
        </p:txBody>
      </p:sp>
      <p:pic>
        <p:nvPicPr>
          <p:cNvPr id="3" name="图片 2" descr="祥云物联平台架构技术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42085"/>
            <a:ext cx="10058400" cy="4887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9"/>
          <p:cNvSpPr/>
          <p:nvPr/>
        </p:nvSpPr>
        <p:spPr bwMode="auto">
          <a:xfrm>
            <a:off x="5944235" y="277687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grpSp>
        <p:nvGrpSpPr>
          <p:cNvPr id="348" name="组合 41"/>
          <p:cNvGrpSpPr/>
          <p:nvPr/>
        </p:nvGrpSpPr>
        <p:grpSpPr>
          <a:xfrm>
            <a:off x="1524600" y="2509079"/>
            <a:ext cx="9144000" cy="1814780"/>
            <a:chOff x="0" y="0"/>
            <a:chExt cx="9144000" cy="1814778"/>
          </a:xfrm>
        </p:grpSpPr>
        <p:sp>
          <p:nvSpPr>
            <p:cNvPr id="343" name="等腰三角形 43"/>
            <p:cNvSpPr/>
            <p:nvPr>
              <p:custDataLst>
                <p:tags r:id="rId1"/>
              </p:custDataLst>
            </p:nvPr>
          </p:nvSpPr>
          <p:spPr>
            <a:xfrm>
              <a:off x="2469920" y="0"/>
              <a:ext cx="825386" cy="828242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等腰三角形 44"/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68682" y="986535"/>
              <a:ext cx="825385" cy="828243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矩形 45"/>
            <p:cNvSpPr/>
            <p:nvPr>
              <p:custDataLst>
                <p:tags r:id="rId3"/>
              </p:custDataLst>
            </p:nvPr>
          </p:nvSpPr>
          <p:spPr>
            <a:xfrm>
              <a:off x="0" y="194648"/>
              <a:ext cx="9144000" cy="142173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6" name="平行四边形 46"/>
            <p:cNvSpPr/>
            <p:nvPr>
              <p:custDataLst>
                <p:tags r:id="rId4"/>
              </p:custDataLst>
            </p:nvPr>
          </p:nvSpPr>
          <p:spPr>
            <a:xfrm>
              <a:off x="479202" y="638"/>
              <a:ext cx="2406979" cy="1809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829" y="0"/>
                  </a:lnTo>
                  <a:lnTo>
                    <a:pt x="21600" y="0"/>
                  </a:lnTo>
                  <a:lnTo>
                    <a:pt x="1377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115615" y="246711"/>
              <a:ext cx="1322150" cy="12992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sz="8000">
                  <a:solidFill>
                    <a:srgbClr val="F2F2F2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</a:t>
              </a:r>
              <a:r>
                <a:rPr lang="en-US"/>
                <a:t>3</a:t>
              </a:r>
              <a:endParaRPr lang="en-US"/>
            </a:p>
          </p:txBody>
        </p:sp>
      </p:grpSp>
      <p:sp>
        <p:nvSpPr>
          <p:cNvPr id="349" name="TextBox 48"/>
          <p:cNvSpPr txBox="1"/>
          <p:nvPr>
            <p:custDataLst>
              <p:tags r:id="rId6"/>
            </p:custDataLst>
          </p:nvPr>
        </p:nvSpPr>
        <p:spPr>
          <a:xfrm>
            <a:off x="4507865" y="3094355"/>
            <a:ext cx="5495925" cy="622300"/>
          </a:xfrm>
          <a:prstGeom prst="rect">
            <a:avLst/>
          </a:prstGeom>
          <a:ln w="12700">
            <a:miter lim="400000"/>
          </a:ln>
        </p:spPr>
        <p:txBody>
          <a:bodyPr wrap="square" lIns="34290" tIns="34290" rIns="34290" bIns="34290">
            <a:spAutoFit/>
          </a:bodyPr>
          <a:lstStyle>
            <a:lvl1pPr>
              <a:defRPr sz="3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chemeClr val="bg1"/>
                </a:solidFill>
              </a:rPr>
              <a:t>祥云平台的服务拆分</a:t>
            </a:r>
            <a:endParaRPr 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围绕【业务】做拆分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2470" y="2082800"/>
            <a:ext cx="82270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关于服务拆分，分&lt;技术&gt;和&lt;业务&gt;两个维度：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围绕【技术】的拆分：通常以&lt;基础中间件&gt;形式存在。社区提供有&lt;开箱即用&gt;的各种组件。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+ 围绕【业务】的拆分：才是应用开发人员的重点关注所在。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DDD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指导微服务设计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4204970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568749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文本框 6"/>
          <p:cNvSpPr txBox="1"/>
          <p:nvPr/>
        </p:nvSpPr>
        <p:spPr>
          <a:xfrm>
            <a:off x="1982470" y="2522220"/>
            <a:ext cx="82270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战略设计：大的模型如何划分为小模型、模型相互之间如何关联。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战略设计产出：通常为上下文图、模块或微服务划分。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核心域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：系统的核心竞争力所在，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对应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软件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的核心业务。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支撑域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：为核心域提供辅助能力，必要但非核心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。</a:t>
            </a:r>
            <a:endParaRPr lang="en-US" altLang="zh-CN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通用域：通用的行业标准功能，绝不重复造轮子。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限界上下文：同一术语在相同上下文中概念一致、不同上下文有不同含义。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82470" y="1893570"/>
            <a:ext cx="822706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800" dirty="0">
                <a:solidFill>
                  <a:srgbClr val="2B4D89"/>
                </a:solidFill>
                <a:sym typeface="+mn-ea"/>
              </a:rPr>
              <a:t>几个关键概念</a:t>
            </a:r>
            <a:endParaRPr lang="zh-CN" altLang="en-US" sz="18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祥云的</a:t>
            </a:r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DDD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子域关系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" y="1789430"/>
            <a:ext cx="4222115" cy="381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17185" y="3049905"/>
            <a:ext cx="56781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核心域：业务核心，稳定、可靠、性能好，最终会趋于成熟稳定。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17185" y="2538730"/>
            <a:ext cx="235585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 dirty="0">
                <a:solidFill>
                  <a:srgbClr val="2B4D89"/>
                </a:solidFill>
                <a:sym typeface="+mn-ea"/>
              </a:rPr>
              <a:t>核心域 支配 支撑域</a:t>
            </a:r>
            <a:endParaRPr lang="zh-CN" altLang="en-US" sz="2000" b="1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17185" y="3970020"/>
            <a:ext cx="56781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支撑域：在核心域之上满足用户需求。易改动、易扩展、可定制。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:\HANWEI_WORK\祥云设备接入平台\AAAAAAAAA-资料\智库沙龙\20250722-水务事业群技术分享\素材\祥云微服务拆分架构.png祥云微服务拆分架构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41183" y="1466850"/>
            <a:ext cx="8509000" cy="4776470"/>
          </a:xfrm>
          <a:prstGeom prst="rect">
            <a:avLst/>
          </a:prstGeom>
        </p:spPr>
      </p:pic>
      <p:sp>
        <p:nvSpPr>
          <p:cNvPr id="3" name="Title 1"/>
          <p:cNvSpPr txBox="1"/>
          <p:nvPr>
            <p:custDataLst>
              <p:tags r:id="rId2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祥云的微服务拆分设计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祥云</a:t>
            </a:r>
            <a:r>
              <a:rPr lang="en-US" altLang="zh-CN" dirty="0">
                <a:solidFill>
                  <a:srgbClr val="2B4D89"/>
                </a:solidFill>
                <a:latin typeface="+mn-ea"/>
                <a:ea typeface="+mn-ea"/>
              </a:rPr>
              <a:t>Git</a:t>
            </a:r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仓库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pic>
        <p:nvPicPr>
          <p:cNvPr id="3" name="图片 2" descr="祥云微服务-Git代码仓库-每服务仓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960" y="958850"/>
            <a:ext cx="8011795" cy="5532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845185" y="1050290"/>
            <a:ext cx="479107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  <a:latin typeface="+mn-ea"/>
                <a:ea typeface="+mn-ea"/>
              </a:rPr>
              <a:t>祥云的微服务工程结构</a:t>
            </a:r>
            <a:endParaRPr lang="zh-CN" altLang="en-US" dirty="0">
              <a:solidFill>
                <a:srgbClr val="2B4D89"/>
              </a:solidFill>
              <a:latin typeface="+mn-ea"/>
              <a:ea typeface="+mn-ea"/>
            </a:endParaRPr>
          </a:p>
        </p:txBody>
      </p:sp>
      <p:pic>
        <p:nvPicPr>
          <p:cNvPr id="3" name="图片 2" descr="祥云微服务-代码工程结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1395730"/>
            <a:ext cx="8432800" cy="5037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9"/>
          <p:cNvSpPr/>
          <p:nvPr/>
        </p:nvSpPr>
        <p:spPr bwMode="auto">
          <a:xfrm>
            <a:off x="5944235" y="277687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grpSp>
        <p:nvGrpSpPr>
          <p:cNvPr id="348" name="组合 41"/>
          <p:cNvGrpSpPr/>
          <p:nvPr/>
        </p:nvGrpSpPr>
        <p:grpSpPr>
          <a:xfrm>
            <a:off x="1524600" y="2509079"/>
            <a:ext cx="9144000" cy="1814780"/>
            <a:chOff x="0" y="0"/>
            <a:chExt cx="9144000" cy="1814778"/>
          </a:xfrm>
        </p:grpSpPr>
        <p:sp>
          <p:nvSpPr>
            <p:cNvPr id="343" name="等腰三角形 43"/>
            <p:cNvSpPr/>
            <p:nvPr>
              <p:custDataLst>
                <p:tags r:id="rId1"/>
              </p:custDataLst>
            </p:nvPr>
          </p:nvSpPr>
          <p:spPr>
            <a:xfrm>
              <a:off x="2469920" y="0"/>
              <a:ext cx="825386" cy="828242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等腰三角形 44"/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68682" y="986535"/>
              <a:ext cx="825385" cy="828243"/>
            </a:xfrm>
            <a:prstGeom prst="triangle">
              <a:avLst/>
            </a:prstGeom>
            <a:solidFill>
              <a:srgbClr val="5D636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矩形 45"/>
            <p:cNvSpPr/>
            <p:nvPr>
              <p:custDataLst>
                <p:tags r:id="rId3"/>
              </p:custDataLst>
            </p:nvPr>
          </p:nvSpPr>
          <p:spPr>
            <a:xfrm>
              <a:off x="0" y="194648"/>
              <a:ext cx="9144000" cy="142173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6" name="平行四边形 46"/>
            <p:cNvSpPr/>
            <p:nvPr>
              <p:custDataLst>
                <p:tags r:id="rId4"/>
              </p:custDataLst>
            </p:nvPr>
          </p:nvSpPr>
          <p:spPr>
            <a:xfrm>
              <a:off x="479202" y="638"/>
              <a:ext cx="2406979" cy="1809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829" y="0"/>
                  </a:lnTo>
                  <a:lnTo>
                    <a:pt x="21600" y="0"/>
                  </a:lnTo>
                  <a:lnTo>
                    <a:pt x="1377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115615" y="246711"/>
              <a:ext cx="1322150" cy="12992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sz="8000">
                  <a:solidFill>
                    <a:srgbClr val="F2F2F2"/>
                  </a:solidFill>
                  <a:latin typeface="Impact" panose="020B0806030902050204"/>
                  <a:ea typeface="Impact" panose="020B0806030902050204"/>
                  <a:cs typeface="Impact" panose="020B0806030902050204"/>
                  <a:sym typeface="Impact" panose="020B0806030902050204"/>
                </a:defRPr>
              </a:lvl1pPr>
            </a:lstStyle>
            <a:p>
              <a:r>
                <a:t>0</a:t>
              </a:r>
              <a:r>
                <a:rPr lang="en-US"/>
                <a:t>4</a:t>
              </a:r>
              <a:endParaRPr lang="en-US"/>
            </a:p>
          </p:txBody>
        </p:sp>
      </p:grpSp>
      <p:sp>
        <p:nvSpPr>
          <p:cNvPr id="349" name="TextBox 48"/>
          <p:cNvSpPr txBox="1"/>
          <p:nvPr>
            <p:custDataLst>
              <p:tags r:id="rId6"/>
            </p:custDataLst>
          </p:nvPr>
        </p:nvSpPr>
        <p:spPr>
          <a:xfrm>
            <a:off x="4507865" y="3094355"/>
            <a:ext cx="5495925" cy="622300"/>
          </a:xfrm>
          <a:prstGeom prst="rect">
            <a:avLst/>
          </a:prstGeom>
          <a:ln w="12700">
            <a:miter lim="400000"/>
          </a:ln>
        </p:spPr>
        <p:txBody>
          <a:bodyPr wrap="square" lIns="34290" tIns="34290" rIns="34290" bIns="34290">
            <a:spAutoFit/>
          </a:bodyPr>
          <a:lstStyle>
            <a:lvl1pPr>
              <a:defRPr sz="3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>
                <a:solidFill>
                  <a:schemeClr val="bg1"/>
                </a:solidFill>
              </a:rPr>
              <a:t>未来探索服务网格</a:t>
            </a:r>
            <a:endParaRPr 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1"/>
          <p:cNvSpPr txBox="1"/>
          <p:nvPr>
            <p:custDataLst>
              <p:tags r:id="rId1"/>
            </p:custDataLst>
          </p:nvPr>
        </p:nvSpPr>
        <p:spPr>
          <a:xfrm>
            <a:off x="842010" y="1022985"/>
            <a:ext cx="353758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</a:rPr>
              <a:t>微服务治理：</a:t>
            </a:r>
            <a:r>
              <a:rPr lang="en-US" altLang="zh-CN" dirty="0" err="1">
                <a:solidFill>
                  <a:srgbClr val="2B4D89"/>
                </a:solidFill>
              </a:rPr>
              <a:t>sdk</a:t>
            </a:r>
            <a:r>
              <a:rPr lang="zh-CN" altLang="en-US" dirty="0">
                <a:solidFill>
                  <a:srgbClr val="2B4D89"/>
                </a:solidFill>
              </a:rPr>
              <a:t>模式 </a:t>
            </a:r>
            <a:r>
              <a:rPr lang="en-US" altLang="zh-CN" dirty="0">
                <a:solidFill>
                  <a:srgbClr val="2B4D89"/>
                </a:solidFill>
              </a:rPr>
              <a:t>vs </a:t>
            </a:r>
            <a:r>
              <a:rPr lang="zh-CN" altLang="en-US" dirty="0">
                <a:solidFill>
                  <a:srgbClr val="2B4D89"/>
                </a:solidFill>
              </a:rPr>
              <a:t>服务网格</a:t>
            </a:r>
            <a:endParaRPr lang="zh-CN" altLang="en-US" dirty="0">
              <a:solidFill>
                <a:srgbClr val="2B4D89"/>
              </a:solidFill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718175" y="249874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632585" y="1827530"/>
            <a:ext cx="8651875" cy="3253105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561226" y="175731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076695" y="4867711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632585" y="3527425"/>
            <a:ext cx="8581458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u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通过服务网格治理，治理逻辑以sidecar运行在独立的进程。业务代码和治理逻辑都以独立的进程存在，两者的代码和运行都无耦合，这样可以做到与开发语言无关，升级也相互独立。确切的说，服务网格是提供了一套具备云原生动态、弹性特点的应用治理基础设施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2585" y="2045335"/>
            <a:ext cx="8581458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u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 err="1">
                <a:solidFill>
                  <a:srgbClr val="2B4D89"/>
                </a:solidFill>
                <a:sym typeface="+mn-ea"/>
              </a:rPr>
              <a:t>sdk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模式的治理工具集在过去一段时间里得到了非常广泛的应用。虽然在代码上解耦了业务和治理逻辑，但运行时业务代码和治理逻辑还是在一个进程内。这就导致当需升级治理逻辑时，仍需要整个服务升级。而且存在语言绑定，即业务代码受限于治理逻辑的语言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7045" y="5344160"/>
            <a:ext cx="82270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核心进化：将服务治理的</a:t>
            </a:r>
            <a:r>
              <a:rPr lang="en-US" altLang="zh-CN" sz="2000" dirty="0">
                <a:solidFill>
                  <a:srgbClr val="2B4D89"/>
                </a:solidFill>
                <a:sym typeface="+mn-ea"/>
              </a:rPr>
              <a:t>SDK</a:t>
            </a: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剥离成为基础设施！</a:t>
            </a:r>
            <a:endParaRPr lang="zh-CN" altLang="en-US" sz="20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1"/>
          <p:cNvSpPr txBox="1"/>
          <p:nvPr>
            <p:custDataLst>
              <p:tags r:id="rId1"/>
            </p:custDataLst>
          </p:nvPr>
        </p:nvSpPr>
        <p:spPr>
          <a:xfrm>
            <a:off x="851535" y="1003935"/>
            <a:ext cx="353758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</a:rPr>
              <a:t>时代选择服务网格</a:t>
            </a:r>
            <a:endParaRPr lang="zh-CN" altLang="en-US" dirty="0">
              <a:solidFill>
                <a:srgbClr val="2B4D89"/>
              </a:solidFill>
            </a:endParaRPr>
          </a:p>
        </p:txBody>
      </p:sp>
      <p:sp>
        <p:nvSpPr>
          <p:cNvPr id="28" name="AutoShape 149"/>
          <p:cNvSpPr/>
          <p:nvPr/>
        </p:nvSpPr>
        <p:spPr bwMode="auto">
          <a:xfrm>
            <a:off x="5718175" y="2498744"/>
            <a:ext cx="304800" cy="21907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632585" y="1827530"/>
            <a:ext cx="8651875" cy="2863215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561226" y="175731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076695" y="447718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1849755" y="3527425"/>
            <a:ext cx="82270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u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目前，国内外云服务厂商都已经将服务网格以云服务形态提供了出来，和底层的基础设施相结合，提供了完整的服务治理解决方案。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49755" y="2045335"/>
            <a:ext cx="82270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u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服务网格为何能大行其道：在云原生时代，采用各种语言开发的服务剧增，应用间的访问拓扑、治理需求也随之更复杂。原来的sdk模式无论是从形态、动态性还是可扩展性来说都不能满足需求。迫切需要一种具备云原生动态、弹性特点的应用治理基础设施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服务2.0架构探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165" y="1360805"/>
            <a:ext cx="9043670" cy="4625340"/>
          </a:xfrm>
          <a:prstGeom prst="rect">
            <a:avLst/>
          </a:prstGeom>
        </p:spPr>
      </p:pic>
      <p:sp>
        <p:nvSpPr>
          <p:cNvPr id="453" name="Title 1"/>
          <p:cNvSpPr txBox="1"/>
          <p:nvPr>
            <p:custDataLst>
              <p:tags r:id="rId2"/>
            </p:custDataLst>
          </p:nvPr>
        </p:nvSpPr>
        <p:spPr>
          <a:xfrm>
            <a:off x="851535" y="1003935"/>
            <a:ext cx="353758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</a:rPr>
              <a:t>微服务</a:t>
            </a:r>
            <a:r>
              <a:rPr lang="en-US" altLang="zh-CN" dirty="0">
                <a:solidFill>
                  <a:srgbClr val="2B4D89"/>
                </a:solidFill>
              </a:rPr>
              <a:t>2.0</a:t>
            </a:r>
            <a:r>
              <a:rPr lang="zh-CN" altLang="en-US" dirty="0">
                <a:solidFill>
                  <a:srgbClr val="2B4D89"/>
                </a:solidFill>
              </a:rPr>
              <a:t>的架构探索</a:t>
            </a:r>
            <a:endParaRPr lang="zh-CN" altLang="en-US" dirty="0">
              <a:solidFill>
                <a:srgbClr val="2B4D89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74165" y="5986145"/>
            <a:ext cx="3199130" cy="414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"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/>
              <a:t>业务服务的代码开发【更加简单】了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3" name="Title 1"/>
          <p:cNvSpPr txBox="1"/>
          <p:nvPr>
            <p:custDataLst>
              <p:tags r:id="rId1"/>
            </p:custDataLst>
          </p:nvPr>
        </p:nvSpPr>
        <p:spPr>
          <a:xfrm>
            <a:off x="851535" y="1003935"/>
            <a:ext cx="3537585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2B4D89"/>
                </a:solidFill>
              </a:rPr>
              <a:t>网格落地的挑战</a:t>
            </a:r>
            <a:endParaRPr lang="zh-CN" altLang="en-US" dirty="0">
              <a:solidFill>
                <a:srgbClr val="2B4D89"/>
              </a:solidFill>
            </a:endParaRPr>
          </a:p>
        </p:txBody>
      </p:sp>
      <p:sp>
        <p:nvSpPr>
          <p:cNvPr id="473" name="圆角矩形 26"/>
          <p:cNvSpPr/>
          <p:nvPr>
            <p:custDataLst>
              <p:tags r:id="rId2"/>
            </p:custDataLst>
          </p:nvPr>
        </p:nvSpPr>
        <p:spPr>
          <a:xfrm>
            <a:off x="1770380" y="1685290"/>
            <a:ext cx="8651875" cy="3173095"/>
          </a:xfrm>
          <a:prstGeom prst="roundRect">
            <a:avLst>
              <a:gd name="adj" fmla="val 0"/>
            </a:avLst>
          </a:prstGeom>
          <a:ln w="3175">
            <a:solidFill>
              <a:srgbClr val="404040"/>
            </a:solidFill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矩形 93"/>
          <p:cNvSpPr/>
          <p:nvPr>
            <p:custDataLst>
              <p:tags r:id="rId3"/>
            </p:custDataLst>
          </p:nvPr>
        </p:nvSpPr>
        <p:spPr>
          <a:xfrm>
            <a:off x="1699021" y="1615078"/>
            <a:ext cx="288034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矩形 93"/>
          <p:cNvSpPr/>
          <p:nvPr>
            <p:custDataLst>
              <p:tags r:id="rId4"/>
            </p:custDataLst>
          </p:nvPr>
        </p:nvSpPr>
        <p:spPr>
          <a:xfrm rot="10800000">
            <a:off x="10214490" y="4647366"/>
            <a:ext cx="288033" cy="288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6171"/>
                </a:lnTo>
                <a:lnTo>
                  <a:pt x="6171" y="6171"/>
                </a:lnTo>
                <a:lnTo>
                  <a:pt x="6171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文本框 3"/>
          <p:cNvSpPr txBox="1"/>
          <p:nvPr/>
        </p:nvSpPr>
        <p:spPr>
          <a:xfrm>
            <a:off x="1987550" y="1903095"/>
            <a:ext cx="82270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架构复杂度提升：由于增加了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sidecar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代理层，调用层级和调试难度都会增加。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运维复杂度提升：需维护控制平面和数据平面，运维技术能力要求更高。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性能损耗问题：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sidecar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代理会产生额外开销，可能导致吞吐量下降。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配置管理：搭建基于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istio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的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CD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流水线。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监控与排障：必须构建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istio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的监控体系；排障时要穿透多层调用链。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团队技能门槛：除了掌握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，还需掌握网格原理、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Envoy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代理等知识技能。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+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渐进式推进：从非核心业务开始、渐进式铺开，避免盲目追求全功能覆盖。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82470" y="5344160"/>
            <a:ext cx="82270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更高的技术门槛！</a:t>
            </a:r>
            <a:endParaRPr lang="zh-CN" altLang="en-US" sz="20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82470" y="2413635"/>
            <a:ext cx="822706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单体 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vs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微服务？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ECS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裸机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 vs Docker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容器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 vs k8s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云原生？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SpringCloud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治理 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vs 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网格</a:t>
            </a:r>
            <a:r>
              <a:rPr lang="en-US" altLang="zh-CN" sz="1600" dirty="0">
                <a:solidFill>
                  <a:srgbClr val="2B4D89"/>
                </a:solidFill>
                <a:sym typeface="+mn-ea"/>
              </a:rPr>
              <a:t>istio</a:t>
            </a:r>
            <a:r>
              <a:rPr lang="zh-CN" altLang="en-US" sz="1600" dirty="0">
                <a:solidFill>
                  <a:srgbClr val="2B4D89"/>
                </a:solidFill>
                <a:sym typeface="+mn-ea"/>
              </a:rPr>
              <a:t>治理？</a:t>
            </a: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600" dirty="0">
              <a:solidFill>
                <a:srgbClr val="2B4D89"/>
              </a:solidFill>
              <a:sym typeface="+mn-ea"/>
            </a:endParaRPr>
          </a:p>
          <a:p>
            <a:pPr algn="ctr" fontAlgn="auto">
              <a:lnSpc>
                <a:spcPct val="150000"/>
              </a:lnSpc>
              <a:buFont typeface="Wingdings" panose="05000000000000000000" pitchFamily="2" charset="2"/>
              <a:buNone/>
              <a:defRPr sz="1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dirty="0">
                <a:solidFill>
                  <a:srgbClr val="2B4D89"/>
                </a:solidFill>
                <a:sym typeface="+mn-ea"/>
              </a:rPr>
              <a:t>适合的才是最好的！</a:t>
            </a:r>
            <a:endParaRPr lang="zh-CN" altLang="en-US" sz="2000" dirty="0">
              <a:solidFill>
                <a:srgbClr val="2B4D89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133351" y="111127"/>
            <a:ext cx="10287000" cy="676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汇报完毕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感谢各位的聆听！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bmovt3f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2880</Words>
  <Application>WPS 演示</Application>
  <PresentationFormat>宽屏</PresentationFormat>
  <Paragraphs>241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Impact</vt:lpstr>
      <vt:lpstr>Roboto Light</vt:lpstr>
      <vt:lpstr>Arial Unicode MS</vt:lpstr>
      <vt:lpstr>Calibri</vt:lpstr>
      <vt:lpstr>Wingdings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韩鹏飞</cp:lastModifiedBy>
  <cp:revision>697</cp:revision>
  <dcterms:created xsi:type="dcterms:W3CDTF">2018-11-19T02:44:00Z</dcterms:created>
  <dcterms:modified xsi:type="dcterms:W3CDTF">2025-07-29T14:34:32Z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13</vt:lpwstr>
  </property>
  <property fmtid="{D5CDD505-2E9C-101B-9397-08002B2CF9AE}" pid="3" name="KSOProductBuildVer">
    <vt:lpwstr>2052-10.1.0.7224</vt:lpwstr>
  </property>
  <property fmtid="{D5CDD505-2E9C-101B-9397-08002B2CF9AE}" pid="4" name="ICV">
    <vt:lpwstr>9D4E6AADE6784B8FB304048E55F0252B_12</vt:lpwstr>
  </property>
</Properties>
</file>